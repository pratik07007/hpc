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9144000" cy="6858000"/>
  <p:embeddedFontLst>
    <p:embeddedFont>
      <p:font typeface="Noto Sans Symbols"/>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1" roundtripDataSignature="AMtx7mi+BA08eaLJ6YmUj70uj+cA0RqO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otoSansSymbols-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NotoSansSymbols-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 name="Google Shape;43;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 name="Google Shape;49;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 name="Google Shape;55;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 name="Google Shape;63;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 name="Google Shape;75;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4: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5: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6: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7: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8: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9: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0: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1: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2: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3:notes"/>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2" name="Shape 12"/>
        <p:cNvGrpSpPr/>
        <p:nvPr/>
      </p:nvGrpSpPr>
      <p:grpSpPr>
        <a:xfrm>
          <a:off x="0" y="0"/>
          <a:ext cx="0" cy="0"/>
          <a:chOff x="0" y="0"/>
          <a:chExt cx="0" cy="0"/>
        </a:xfrm>
      </p:grpSpPr>
      <p:sp>
        <p:nvSpPr>
          <p:cNvPr id="13" name="Google Shape;13;p25"/>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5"/>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26"/>
          <p:cNvSpPr txBox="1"/>
          <p:nvPr>
            <p:ph type="title"/>
          </p:nvPr>
        </p:nvSpPr>
        <p:spPr>
          <a:xfrm>
            <a:off x="2563495" y="25145"/>
            <a:ext cx="5041900" cy="88074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800">
                <a:solidFill>
                  <a:schemeClr val="lt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6"/>
          <p:cNvSpPr txBox="1"/>
          <p:nvPr>
            <p:ph idx="1" type="body"/>
          </p:nvPr>
        </p:nvSpPr>
        <p:spPr>
          <a:xfrm>
            <a:off x="258267" y="3419094"/>
            <a:ext cx="8627465" cy="324421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32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 name="Google Shape;19;p26"/>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6"/>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22" name="Shape 22"/>
        <p:cNvGrpSpPr/>
        <p:nvPr/>
      </p:nvGrpSpPr>
      <p:grpSpPr>
        <a:xfrm>
          <a:off x="0" y="0"/>
          <a:ext cx="0" cy="0"/>
          <a:chOff x="0" y="0"/>
          <a:chExt cx="0" cy="0"/>
        </a:xfrm>
      </p:grpSpPr>
      <p:pic>
        <p:nvPicPr>
          <p:cNvPr id="23" name="Google Shape;23;p27"/>
          <p:cNvPicPr preferRelativeResize="0"/>
          <p:nvPr/>
        </p:nvPicPr>
        <p:blipFill rotWithShape="1">
          <a:blip r:embed="rId2">
            <a:alphaModFix/>
          </a:blip>
          <a:srcRect b="0" l="0" r="0" t="0"/>
          <a:stretch/>
        </p:blipFill>
        <p:spPr>
          <a:xfrm>
            <a:off x="0" y="0"/>
            <a:ext cx="9144000" cy="6857999"/>
          </a:xfrm>
          <a:prstGeom prst="rect">
            <a:avLst/>
          </a:prstGeom>
          <a:noFill/>
          <a:ln>
            <a:noFill/>
          </a:ln>
        </p:spPr>
      </p:pic>
      <p:sp>
        <p:nvSpPr>
          <p:cNvPr id="24" name="Google Shape;24;p27"/>
          <p:cNvSpPr txBox="1"/>
          <p:nvPr>
            <p:ph type="title"/>
          </p:nvPr>
        </p:nvSpPr>
        <p:spPr>
          <a:xfrm>
            <a:off x="2563495" y="25145"/>
            <a:ext cx="5041900" cy="88074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800">
                <a:solidFill>
                  <a:schemeClr val="lt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7"/>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7"/>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7"/>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28"/>
          <p:cNvSpPr txBox="1"/>
          <p:nvPr>
            <p:ph type="ctrTitle"/>
          </p:nvPr>
        </p:nvSpPr>
        <p:spPr>
          <a:xfrm>
            <a:off x="685800" y="2125980"/>
            <a:ext cx="77724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800">
                <a:solidFill>
                  <a:schemeClr val="lt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8"/>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20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8"/>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8"/>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8"/>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4" name="Shape 34"/>
        <p:cNvGrpSpPr/>
        <p:nvPr/>
      </p:nvGrpSpPr>
      <p:grpSpPr>
        <a:xfrm>
          <a:off x="0" y="0"/>
          <a:ext cx="0" cy="0"/>
          <a:chOff x="0" y="0"/>
          <a:chExt cx="0" cy="0"/>
        </a:xfrm>
      </p:grpSpPr>
      <p:sp>
        <p:nvSpPr>
          <p:cNvPr id="35" name="Google Shape;35;p29"/>
          <p:cNvSpPr txBox="1"/>
          <p:nvPr>
            <p:ph type="title"/>
          </p:nvPr>
        </p:nvSpPr>
        <p:spPr>
          <a:xfrm>
            <a:off x="2563495" y="25145"/>
            <a:ext cx="5041900" cy="88074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800">
                <a:solidFill>
                  <a:schemeClr val="lt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9"/>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29"/>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29"/>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9"/>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9"/>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4"/>
          <p:cNvPicPr preferRelativeResize="0"/>
          <p:nvPr/>
        </p:nvPicPr>
        <p:blipFill rotWithShape="1">
          <a:blip r:embed="rId1">
            <a:alphaModFix/>
          </a:blip>
          <a:srcRect b="0" l="0" r="0" t="0"/>
          <a:stretch/>
        </p:blipFill>
        <p:spPr>
          <a:xfrm>
            <a:off x="0" y="0"/>
            <a:ext cx="9144000" cy="6857999"/>
          </a:xfrm>
          <a:prstGeom prst="rect">
            <a:avLst/>
          </a:prstGeom>
          <a:noFill/>
          <a:ln>
            <a:noFill/>
          </a:ln>
        </p:spPr>
      </p:pic>
      <p:sp>
        <p:nvSpPr>
          <p:cNvPr id="7" name="Google Shape;7;p24"/>
          <p:cNvSpPr txBox="1"/>
          <p:nvPr>
            <p:ph type="title"/>
          </p:nvPr>
        </p:nvSpPr>
        <p:spPr>
          <a:xfrm>
            <a:off x="2563495" y="25145"/>
            <a:ext cx="5041900" cy="880744"/>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24"/>
          <p:cNvSpPr txBox="1"/>
          <p:nvPr>
            <p:ph idx="1" type="body"/>
          </p:nvPr>
        </p:nvSpPr>
        <p:spPr>
          <a:xfrm>
            <a:off x="258267" y="3419094"/>
            <a:ext cx="8627465" cy="324421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3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 name="Google Shape;9;p24"/>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4"/>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lodev.org/lodepng/" TargetMode="External"/><Relationship Id="rId4"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 name="Shape 44"/>
        <p:cNvGrpSpPr/>
        <p:nvPr/>
      </p:nvGrpSpPr>
      <p:grpSpPr>
        <a:xfrm>
          <a:off x="0" y="0"/>
          <a:ext cx="0" cy="0"/>
          <a:chOff x="0" y="0"/>
          <a:chExt cx="0" cy="0"/>
        </a:xfrm>
      </p:grpSpPr>
      <p:pic>
        <p:nvPicPr>
          <p:cNvPr id="45" name="Google Shape;45;p1"/>
          <p:cNvPicPr preferRelativeResize="0"/>
          <p:nvPr/>
        </p:nvPicPr>
        <p:blipFill rotWithShape="1">
          <a:blip r:embed="rId3">
            <a:alphaModFix/>
          </a:blip>
          <a:srcRect b="0" l="0" r="0" t="0"/>
          <a:stretch/>
        </p:blipFill>
        <p:spPr>
          <a:xfrm>
            <a:off x="0" y="0"/>
            <a:ext cx="9144000" cy="6857999"/>
          </a:xfrm>
          <a:prstGeom prst="rect">
            <a:avLst/>
          </a:prstGeom>
          <a:noFill/>
          <a:ln>
            <a:noFill/>
          </a:ln>
        </p:spPr>
      </p:pic>
      <p:sp>
        <p:nvSpPr>
          <p:cNvPr id="46" name="Google Shape;46;p1"/>
          <p:cNvSpPr txBox="1"/>
          <p:nvPr/>
        </p:nvSpPr>
        <p:spPr>
          <a:xfrm>
            <a:off x="78739" y="1019124"/>
            <a:ext cx="9065400" cy="4369500"/>
          </a:xfrm>
          <a:prstGeom prst="rect">
            <a:avLst/>
          </a:prstGeom>
          <a:noFill/>
          <a:ln>
            <a:noFill/>
          </a:ln>
        </p:spPr>
        <p:txBody>
          <a:bodyPr anchorCtr="0" anchor="t" bIns="0" lIns="0" spcFirstLastPara="1" rIns="0" wrap="square" tIns="134600">
            <a:spAutoFit/>
          </a:bodyPr>
          <a:lstStyle/>
          <a:p>
            <a:pPr indent="0" lvl="0" marL="12700" marR="0" rtl="0" algn="l">
              <a:lnSpc>
                <a:spcPct val="100000"/>
              </a:lnSpc>
              <a:spcBef>
                <a:spcPts val="0"/>
              </a:spcBef>
              <a:spcAft>
                <a:spcPts val="0"/>
              </a:spcAft>
              <a:buClr>
                <a:srgbClr val="000000"/>
              </a:buClr>
              <a:buSzPts val="4000"/>
              <a:buFont typeface="Arial"/>
              <a:buNone/>
            </a:pPr>
            <a:r>
              <a:rPr b="0" i="0" lang="en-US" sz="4000" u="none" cap="none" strike="noStrike">
                <a:solidFill>
                  <a:srgbClr val="FFC000"/>
                </a:solidFill>
                <a:latin typeface="Cambria"/>
                <a:ea typeface="Cambria"/>
                <a:cs typeface="Cambria"/>
                <a:sym typeface="Cambria"/>
              </a:rPr>
              <a:t>6CS005</a:t>
            </a:r>
            <a:endParaRPr b="0" i="0" sz="4000" u="none" cap="none" strike="noStrike">
              <a:solidFill>
                <a:srgbClr val="000000"/>
              </a:solidFill>
              <a:latin typeface="Cambria"/>
              <a:ea typeface="Cambria"/>
              <a:cs typeface="Cambria"/>
              <a:sym typeface="Cambria"/>
            </a:endParaRPr>
          </a:p>
          <a:p>
            <a:pPr indent="0" lvl="0" marL="12700" marR="0" rtl="0" algn="l">
              <a:lnSpc>
                <a:spcPct val="100000"/>
              </a:lnSpc>
              <a:spcBef>
                <a:spcPts val="960"/>
              </a:spcBef>
              <a:spcAft>
                <a:spcPts val="0"/>
              </a:spcAft>
              <a:buClr>
                <a:srgbClr val="000000"/>
              </a:buClr>
              <a:buSzPts val="4000"/>
              <a:buFont typeface="Arial"/>
              <a:buNone/>
            </a:pPr>
            <a:r>
              <a:rPr b="0" i="0" lang="en-US" sz="4000" u="none" cap="none" strike="noStrike">
                <a:solidFill>
                  <a:srgbClr val="FFC000"/>
                </a:solidFill>
                <a:latin typeface="Cambria"/>
                <a:ea typeface="Cambria"/>
                <a:cs typeface="Cambria"/>
                <a:sym typeface="Cambria"/>
              </a:rPr>
              <a:t>High Performance Computing</a:t>
            </a:r>
            <a:endParaRPr b="0" i="0" sz="4000" u="none" cap="none" strike="noStrike">
              <a:solidFill>
                <a:srgbClr val="000000"/>
              </a:solidFill>
              <a:latin typeface="Cambria"/>
              <a:ea typeface="Cambria"/>
              <a:cs typeface="Cambria"/>
              <a:sym typeface="Cambria"/>
            </a:endParaRPr>
          </a:p>
          <a:p>
            <a:pPr indent="0" lvl="0" marL="12700" marR="0" rtl="0" algn="l">
              <a:lnSpc>
                <a:spcPct val="100000"/>
              </a:lnSpc>
              <a:spcBef>
                <a:spcPts val="1125"/>
              </a:spcBef>
              <a:spcAft>
                <a:spcPts val="0"/>
              </a:spcAft>
              <a:buClr>
                <a:srgbClr val="000000"/>
              </a:buClr>
              <a:buSzPts val="4800"/>
              <a:buFont typeface="Arial"/>
              <a:buNone/>
            </a:pPr>
            <a:r>
              <a:rPr lang="en-US" sz="4800">
                <a:solidFill>
                  <a:srgbClr val="FFC000"/>
                </a:solidFill>
                <a:latin typeface="Cambria"/>
                <a:ea typeface="Cambria"/>
                <a:cs typeface="Cambria"/>
                <a:sym typeface="Cambria"/>
              </a:rPr>
              <a:t>Lecture </a:t>
            </a:r>
            <a:r>
              <a:rPr b="0" i="0" lang="en-US" sz="4800" u="none" cap="none" strike="noStrike">
                <a:solidFill>
                  <a:srgbClr val="FFC000"/>
                </a:solidFill>
                <a:latin typeface="Cambria"/>
                <a:ea typeface="Cambria"/>
                <a:cs typeface="Cambria"/>
                <a:sym typeface="Cambria"/>
              </a:rPr>
              <a:t>11</a:t>
            </a:r>
            <a:endParaRPr b="0" i="0" sz="4800" u="none" cap="none" strike="noStrike">
              <a:solidFill>
                <a:srgbClr val="000000"/>
              </a:solidFill>
              <a:latin typeface="Cambria"/>
              <a:ea typeface="Cambria"/>
              <a:cs typeface="Cambria"/>
              <a:sym typeface="Cambria"/>
            </a:endParaRPr>
          </a:p>
          <a:p>
            <a:pPr indent="0" lvl="0" marL="12700" marR="5080" rtl="0" algn="l">
              <a:lnSpc>
                <a:spcPct val="100000"/>
              </a:lnSpc>
              <a:spcBef>
                <a:spcPts val="994"/>
              </a:spcBef>
              <a:spcAft>
                <a:spcPts val="0"/>
              </a:spcAft>
              <a:buClr>
                <a:srgbClr val="000000"/>
              </a:buClr>
              <a:buSzPts val="4000"/>
              <a:buFont typeface="Arial"/>
              <a:buNone/>
            </a:pPr>
            <a:r>
              <a:rPr b="0" i="0" lang="en-US" sz="4000" u="none" cap="none" strike="noStrike">
                <a:solidFill>
                  <a:srgbClr val="00AF50"/>
                </a:solidFill>
                <a:latin typeface="Cambria"/>
                <a:ea typeface="Cambria"/>
                <a:cs typeface="Cambria"/>
                <a:sym typeface="Cambria"/>
              </a:rPr>
              <a:t>Decoding and encoding PNG files using the LodePNG library</a:t>
            </a:r>
            <a:endParaRPr b="0" i="0" sz="4000" u="none" cap="none" strike="noStrike">
              <a:solidFill>
                <a:srgbClr val="000000"/>
              </a:solidFill>
              <a:latin typeface="Cambria"/>
              <a:ea typeface="Cambria"/>
              <a:cs typeface="Cambria"/>
              <a:sym typeface="Cambria"/>
            </a:endParaRPr>
          </a:p>
          <a:p>
            <a:pPr indent="0" lvl="0" marL="0" marR="0" rtl="0" algn="l">
              <a:lnSpc>
                <a:spcPct val="100000"/>
              </a:lnSpc>
              <a:spcBef>
                <a:spcPts val="165"/>
              </a:spcBef>
              <a:spcAft>
                <a:spcPts val="0"/>
              </a:spcAft>
              <a:buClr>
                <a:srgbClr val="000000"/>
              </a:buClr>
              <a:buSzPts val="4000"/>
              <a:buFont typeface="Arial"/>
              <a:buNone/>
            </a:pPr>
            <a:r>
              <a:t/>
            </a:r>
            <a:endParaRPr b="0" i="0" sz="4000" u="none" cap="none" strike="noStrike">
              <a:solidFill>
                <a:srgbClr val="000000"/>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2"/>
          <p:cNvSpPr txBox="1"/>
          <p:nvPr>
            <p:ph type="title"/>
          </p:nvPr>
        </p:nvSpPr>
        <p:spPr>
          <a:xfrm>
            <a:off x="2563495" y="25145"/>
            <a:ext cx="5041900" cy="880744"/>
          </a:xfrm>
          <a:prstGeom prst="rect">
            <a:avLst/>
          </a:prstGeom>
          <a:noFill/>
          <a:ln>
            <a:noFill/>
          </a:ln>
        </p:spPr>
        <p:txBody>
          <a:bodyPr anchorCtr="0" anchor="t" bIns="0" lIns="0" spcFirstLastPara="1" rIns="0" wrap="square" tIns="227275">
            <a:spAutoFit/>
          </a:bodyPr>
          <a:lstStyle/>
          <a:p>
            <a:pPr indent="0" lvl="0" marL="12700" rtl="0" algn="l">
              <a:lnSpc>
                <a:spcPct val="100000"/>
              </a:lnSpc>
              <a:spcBef>
                <a:spcPts val="0"/>
              </a:spcBef>
              <a:spcAft>
                <a:spcPts val="0"/>
              </a:spcAft>
              <a:buSzPts val="1400"/>
              <a:buNone/>
            </a:pPr>
            <a:r>
              <a:rPr lang="en-US"/>
              <a:t>Decoding a PNG file</a:t>
            </a:r>
            <a:endParaRPr/>
          </a:p>
        </p:txBody>
      </p:sp>
      <p:sp>
        <p:nvSpPr>
          <p:cNvPr id="52" name="Google Shape;52;p2"/>
          <p:cNvSpPr txBox="1"/>
          <p:nvPr/>
        </p:nvSpPr>
        <p:spPr>
          <a:xfrm>
            <a:off x="258267" y="1076909"/>
            <a:ext cx="8299450" cy="4782820"/>
          </a:xfrm>
          <a:prstGeom prst="rect">
            <a:avLst/>
          </a:prstGeom>
          <a:noFill/>
          <a:ln>
            <a:noFill/>
          </a:ln>
        </p:spPr>
        <p:txBody>
          <a:bodyPr anchorCtr="0" anchor="t" bIns="0" lIns="0" spcFirstLastPara="1" rIns="0" wrap="square" tIns="12700">
            <a:spAutoFit/>
          </a:bodyPr>
          <a:lstStyle/>
          <a:p>
            <a:pPr indent="-344805" lvl="0" marL="356870" marR="28575" rtl="0" algn="l">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Within an image/frame (video), there are many pixels. Pixels commonly are generated from RGB (red, green and blue) values. We will be using a library called “lodepng” which adds in a fourth value which represents transparency.</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344805" lvl="0" marL="356870" marR="5080" rtl="0" algn="l">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Single pixel processing is the manipulation of one pixel using a simple formula. For image negative, you will be using an “inverse” method which simply reverses the RGB values.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3"/>
          <p:cNvSpPr txBox="1"/>
          <p:nvPr>
            <p:ph type="title"/>
          </p:nvPr>
        </p:nvSpPr>
        <p:spPr>
          <a:xfrm>
            <a:off x="2563495" y="25145"/>
            <a:ext cx="5041900" cy="880744"/>
          </a:xfrm>
          <a:prstGeom prst="rect">
            <a:avLst/>
          </a:prstGeom>
          <a:noFill/>
          <a:ln>
            <a:noFill/>
          </a:ln>
        </p:spPr>
        <p:txBody>
          <a:bodyPr anchorCtr="0" anchor="t" bIns="0" lIns="0" spcFirstLastPara="1" rIns="0" wrap="square" tIns="227275">
            <a:spAutoFit/>
          </a:bodyPr>
          <a:lstStyle/>
          <a:p>
            <a:pPr indent="0" lvl="0" marL="12700" rtl="0" algn="l">
              <a:lnSpc>
                <a:spcPct val="100000"/>
              </a:lnSpc>
              <a:spcBef>
                <a:spcPts val="0"/>
              </a:spcBef>
              <a:spcAft>
                <a:spcPts val="0"/>
              </a:spcAft>
              <a:buSzPts val="1400"/>
              <a:buNone/>
            </a:pPr>
            <a:r>
              <a:rPr lang="en-US"/>
              <a:t>Decoding a PNG file</a:t>
            </a:r>
            <a:endParaRPr/>
          </a:p>
        </p:txBody>
      </p:sp>
      <p:sp>
        <p:nvSpPr>
          <p:cNvPr id="58" name="Google Shape;58;p3"/>
          <p:cNvSpPr txBox="1"/>
          <p:nvPr/>
        </p:nvSpPr>
        <p:spPr>
          <a:xfrm>
            <a:off x="98552" y="1073861"/>
            <a:ext cx="8437880" cy="45402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We have the following 4x4 image (fairly small image):</a:t>
            </a:r>
            <a:endParaRPr b="0" i="0" sz="2800" u="none" cap="none" strike="noStrike">
              <a:solidFill>
                <a:srgbClr val="000000"/>
              </a:solidFill>
              <a:latin typeface="Arial"/>
              <a:ea typeface="Arial"/>
              <a:cs typeface="Arial"/>
              <a:sym typeface="Arial"/>
            </a:endParaRPr>
          </a:p>
        </p:txBody>
      </p:sp>
      <p:sp>
        <p:nvSpPr>
          <p:cNvPr id="59" name="Google Shape;59;p3"/>
          <p:cNvSpPr txBox="1"/>
          <p:nvPr/>
        </p:nvSpPr>
        <p:spPr>
          <a:xfrm>
            <a:off x="98552" y="3407025"/>
            <a:ext cx="8992235" cy="1781810"/>
          </a:xfrm>
          <a:prstGeom prst="rect">
            <a:avLst/>
          </a:prstGeom>
          <a:noFill/>
          <a:ln>
            <a:noFill/>
          </a:ln>
        </p:spPr>
        <p:txBody>
          <a:bodyPr anchorCtr="0" anchor="t" bIns="0" lIns="0" spcFirstLastPara="1" rIns="0" wrap="square" tIns="12050">
            <a:spAutoFit/>
          </a:bodyPr>
          <a:lstStyle/>
          <a:p>
            <a:pPr indent="0" lvl="0" marL="12700" marR="512444" rtl="0" algn="l">
              <a:lnSpc>
                <a:spcPct val="1201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The top left is made up of 2x2 R = 40 G = 23 B = 255 T = 255 The top right is made up of 2x2 R = 255 G = 36 B = 36 T = 255</a:t>
            </a:r>
            <a:endParaRPr b="0" i="0" sz="2400" u="none" cap="none" strike="noStrike">
              <a:solidFill>
                <a:srgbClr val="000000"/>
              </a:solidFill>
              <a:latin typeface="Arial"/>
              <a:ea typeface="Arial"/>
              <a:cs typeface="Arial"/>
              <a:sym typeface="Arial"/>
            </a:endParaRPr>
          </a:p>
          <a:p>
            <a:pPr indent="0" lvl="0" marL="12700" marR="5080" rtl="0" algn="l">
              <a:lnSpc>
                <a:spcPct val="144166"/>
              </a:lnSpc>
              <a:spcBef>
                <a:spcPts val="95"/>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The bottom left is made up of 2x2 R = 255 G = 203 B = 23 T = 255 The bottom right is made up of 2x2 R = 34 G = 177 B = 76 T = 255</a:t>
            </a:r>
            <a:endParaRPr b="0" i="0" sz="2400" u="none" cap="none" strike="noStrike">
              <a:solidFill>
                <a:srgbClr val="000000"/>
              </a:solidFill>
              <a:latin typeface="Arial"/>
              <a:ea typeface="Arial"/>
              <a:cs typeface="Arial"/>
              <a:sym typeface="Arial"/>
            </a:endParaRPr>
          </a:p>
        </p:txBody>
      </p:sp>
      <p:pic>
        <p:nvPicPr>
          <p:cNvPr id="60" name="Google Shape;60;p3"/>
          <p:cNvPicPr preferRelativeResize="0"/>
          <p:nvPr/>
        </p:nvPicPr>
        <p:blipFill rotWithShape="1">
          <a:blip r:embed="rId3">
            <a:alphaModFix/>
          </a:blip>
          <a:srcRect b="0" l="0" r="0" t="0"/>
          <a:stretch/>
        </p:blipFill>
        <p:spPr>
          <a:xfrm>
            <a:off x="3059810" y="1844801"/>
            <a:ext cx="1022870" cy="13638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4"/>
          <p:cNvSpPr txBox="1"/>
          <p:nvPr/>
        </p:nvSpPr>
        <p:spPr>
          <a:xfrm>
            <a:off x="258267" y="25145"/>
            <a:ext cx="8633460" cy="6566534"/>
          </a:xfrm>
          <a:prstGeom prst="rect">
            <a:avLst/>
          </a:prstGeom>
          <a:noFill/>
          <a:ln>
            <a:noFill/>
          </a:ln>
        </p:spPr>
        <p:txBody>
          <a:bodyPr anchorCtr="0" anchor="t" bIns="0" lIns="0" spcFirstLastPara="1" rIns="0" wrap="square" tIns="13325">
            <a:spAutoFit/>
          </a:bodyPr>
          <a:lstStyle/>
          <a:p>
            <a:pPr indent="0" lvl="0" marL="2317750" marR="132207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Decoding a PNG file – function from library</a:t>
            </a:r>
            <a:endParaRPr b="0" i="0" sz="2800" u="none" cap="none" strike="noStrike">
              <a:solidFill>
                <a:srgbClr val="000000"/>
              </a:solidFill>
              <a:latin typeface="Cambria"/>
              <a:ea typeface="Cambria"/>
              <a:cs typeface="Cambria"/>
              <a:sym typeface="Cambria"/>
            </a:endParaRPr>
          </a:p>
          <a:p>
            <a:pPr indent="-344805" lvl="0" marL="356870" marR="6350" rtl="0" algn="just">
              <a:lnSpc>
                <a:spcPct val="80000"/>
              </a:lnSpc>
              <a:spcBef>
                <a:spcPts val="1555"/>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lodepng has many methods to decode an image. The      most      simple      function      is “</a:t>
            </a:r>
            <a:r>
              <a:rPr b="0" i="0" lang="en-US" sz="3000" u="none" cap="none" strike="noStrike">
                <a:solidFill>
                  <a:srgbClr val="FF0000"/>
                </a:solidFill>
                <a:latin typeface="Arial"/>
                <a:ea typeface="Arial"/>
                <a:cs typeface="Arial"/>
                <a:sym typeface="Arial"/>
              </a:rPr>
              <a:t>lodepng_decode32_file(unsigned char ** image, unsigned*  w,  unsigned  *  h,  const  char* filename){ //decoding algorithm}</a:t>
            </a:r>
            <a:r>
              <a:rPr b="0" i="0" lang="en-US" sz="3000" u="none" cap="none" strike="noStrike">
                <a:solidFill>
                  <a:srgbClr val="000000"/>
                </a:solidFill>
                <a:latin typeface="Arial"/>
                <a:ea typeface="Arial"/>
                <a:cs typeface="Arial"/>
                <a:sym typeface="Arial"/>
              </a:rPr>
              <a:t>.”</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875"/>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344805" lvl="0" marL="356870" marR="5080" rtl="0" algn="just">
              <a:lnSpc>
                <a:spcPct val="8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The  first parameter  takes in  the  address  of a pointer  variable  which  will  hold  the  array  of numbers (RGBT).</a:t>
            </a:r>
            <a:endParaRPr b="0" i="0" sz="3000" u="none" cap="none" strike="noStrike">
              <a:solidFill>
                <a:srgbClr val="000000"/>
              </a:solidFill>
              <a:latin typeface="Arial"/>
              <a:ea typeface="Arial"/>
              <a:cs typeface="Arial"/>
              <a:sym typeface="Arial"/>
            </a:endParaRPr>
          </a:p>
          <a:p>
            <a:pPr indent="-344805" lvl="0" marL="356870" marR="6350" rtl="0" algn="just">
              <a:lnSpc>
                <a:spcPct val="80000"/>
              </a:lnSpc>
              <a:spcBef>
                <a:spcPts val="725"/>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The second and third parameter will return the height and width of the file that has been loaded in.</a:t>
            </a:r>
            <a:endParaRPr b="0" i="0" sz="3000" u="none" cap="none" strike="noStrike">
              <a:solidFill>
                <a:srgbClr val="000000"/>
              </a:solidFill>
              <a:latin typeface="Arial"/>
              <a:ea typeface="Arial"/>
              <a:cs typeface="Arial"/>
              <a:sym typeface="Arial"/>
            </a:endParaRPr>
          </a:p>
          <a:p>
            <a:pPr indent="-344805" lvl="0" marL="356870" marR="6985" rtl="0" algn="just">
              <a:lnSpc>
                <a:spcPct val="96000"/>
              </a:lnSpc>
              <a:spcBef>
                <a:spcPts val="695"/>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The  fourth  parameter  is  the  “filename”  of  the PNG image we want to process.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5"/>
          <p:cNvSpPr txBox="1"/>
          <p:nvPr/>
        </p:nvSpPr>
        <p:spPr>
          <a:xfrm>
            <a:off x="2563495" y="25145"/>
            <a:ext cx="4461510" cy="880744"/>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Decoding a PNG file - code within the main (Part 1)</a:t>
            </a:r>
            <a:endParaRPr b="0" i="0" sz="2800" u="none" cap="none" strike="noStrike">
              <a:solidFill>
                <a:srgbClr val="000000"/>
              </a:solidFill>
              <a:latin typeface="Cambria"/>
              <a:ea typeface="Cambria"/>
              <a:cs typeface="Cambria"/>
              <a:sym typeface="Cambria"/>
            </a:endParaRPr>
          </a:p>
        </p:txBody>
      </p:sp>
      <p:sp>
        <p:nvSpPr>
          <p:cNvPr id="71" name="Google Shape;71;p5"/>
          <p:cNvSpPr txBox="1"/>
          <p:nvPr>
            <p:ph type="title"/>
          </p:nvPr>
        </p:nvSpPr>
        <p:spPr>
          <a:xfrm>
            <a:off x="258267" y="978138"/>
            <a:ext cx="4719320" cy="1782445"/>
          </a:xfrm>
          <a:prstGeom prst="rect">
            <a:avLst/>
          </a:prstGeom>
          <a:noFill/>
          <a:ln>
            <a:noFill/>
          </a:ln>
        </p:spPr>
        <p:txBody>
          <a:bodyPr anchorCtr="0" anchor="t" bIns="0" lIns="0" spcFirstLastPara="1" rIns="0" wrap="square" tIns="12700">
            <a:spAutoFit/>
          </a:bodyPr>
          <a:lstStyle/>
          <a:p>
            <a:pPr indent="0" lvl="0" marL="12700" marR="5080" rtl="0" algn="l">
              <a:lnSpc>
                <a:spcPct val="120100"/>
              </a:lnSpc>
              <a:spcBef>
                <a:spcPts val="0"/>
              </a:spcBef>
              <a:spcAft>
                <a:spcPts val="0"/>
              </a:spcAft>
              <a:buSzPts val="1400"/>
              <a:buNone/>
            </a:pPr>
            <a:r>
              <a:rPr lang="en-US" sz="3200">
                <a:solidFill>
                  <a:srgbClr val="000000"/>
                </a:solidFill>
                <a:latin typeface="Arial"/>
                <a:ea typeface="Arial"/>
                <a:cs typeface="Arial"/>
                <a:sym typeface="Arial"/>
              </a:rPr>
              <a:t>unsigned int error; unsigned char* image; unsigned int width, height;</a:t>
            </a:r>
            <a:endParaRPr sz="3200">
              <a:latin typeface="Arial"/>
              <a:ea typeface="Arial"/>
              <a:cs typeface="Arial"/>
              <a:sym typeface="Arial"/>
            </a:endParaRPr>
          </a:p>
        </p:txBody>
      </p:sp>
      <p:sp>
        <p:nvSpPr>
          <p:cNvPr id="72" name="Google Shape;72;p5"/>
          <p:cNvSpPr txBox="1"/>
          <p:nvPr>
            <p:ph idx="1" type="body"/>
          </p:nvPr>
        </p:nvSpPr>
        <p:spPr>
          <a:xfrm>
            <a:off x="258267" y="3419094"/>
            <a:ext cx="8627465" cy="3244215"/>
          </a:xfrm>
          <a:prstGeom prst="rect">
            <a:avLst/>
          </a:prstGeom>
          <a:noFill/>
          <a:ln>
            <a:noFill/>
          </a:ln>
        </p:spPr>
        <p:txBody>
          <a:bodyPr anchorCtr="0" anchor="t" bIns="0" lIns="0" spcFirstLastPara="1" rIns="0" wrap="square" tIns="11425">
            <a:spAutoFit/>
          </a:bodyPr>
          <a:lstStyle/>
          <a:p>
            <a:pPr indent="0" lvl="0" marL="12700" marR="5080" rtl="0" algn="l">
              <a:lnSpc>
                <a:spcPct val="100000"/>
              </a:lnSpc>
              <a:spcBef>
                <a:spcPts val="0"/>
              </a:spcBef>
              <a:spcAft>
                <a:spcPts val="0"/>
              </a:spcAft>
              <a:buSzPts val="1400"/>
              <a:buNone/>
            </a:pPr>
            <a:r>
              <a:rPr lang="en-US"/>
              <a:t>error = lodepng_decode32_file(&amp;image, &amp;width, &amp;height, filename);</a:t>
            </a:r>
            <a:endParaRPr/>
          </a:p>
          <a:p>
            <a:pPr indent="0" lvl="0" marL="12700" rtl="0" algn="l">
              <a:lnSpc>
                <a:spcPct val="100000"/>
              </a:lnSpc>
              <a:spcBef>
                <a:spcPts val="775"/>
              </a:spcBef>
              <a:spcAft>
                <a:spcPts val="0"/>
              </a:spcAft>
              <a:buSzPts val="1400"/>
              <a:buNone/>
            </a:pPr>
            <a:r>
              <a:rPr lang="en-US"/>
              <a:t>if(error){</a:t>
            </a:r>
            <a:endParaRPr/>
          </a:p>
          <a:p>
            <a:pPr indent="0" lvl="0" marL="12700" marR="3376929" rtl="0" algn="l">
              <a:lnSpc>
                <a:spcPct val="100000"/>
              </a:lnSpc>
              <a:spcBef>
                <a:spcPts val="765"/>
              </a:spcBef>
              <a:spcAft>
                <a:spcPts val="0"/>
              </a:spcAft>
              <a:buSzPts val="1400"/>
              <a:buNone/>
            </a:pPr>
            <a:r>
              <a:rPr lang="en-US"/>
              <a:t>printf("error %d: %s\n", error, lodepng_error_text(error));</a:t>
            </a:r>
            <a:endParaRPr/>
          </a:p>
          <a:p>
            <a:pPr indent="0" lvl="0" marL="12700" rtl="0" algn="l">
              <a:lnSpc>
                <a:spcPct val="100000"/>
              </a:lnSpc>
              <a:spcBef>
                <a:spcPts val="775"/>
              </a:spcBef>
              <a:spcAft>
                <a:spcPts val="0"/>
              </a:spcAft>
              <a:buSzPts val="1400"/>
              <a:buNone/>
            </a:pPr>
            <a:r>
              <a:rPr lang="en-US"/>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6"/>
          <p:cNvSpPr txBox="1"/>
          <p:nvPr/>
        </p:nvSpPr>
        <p:spPr>
          <a:xfrm>
            <a:off x="2563495" y="25145"/>
            <a:ext cx="4461510" cy="880744"/>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Decoding a PNG file - code within the main (Part 2)</a:t>
            </a:r>
            <a:endParaRPr b="0" i="0" sz="2800" u="none" cap="none" strike="noStrike">
              <a:solidFill>
                <a:srgbClr val="000000"/>
              </a:solidFill>
              <a:latin typeface="Cambria"/>
              <a:ea typeface="Cambria"/>
              <a:cs typeface="Cambria"/>
              <a:sym typeface="Cambria"/>
            </a:endParaRPr>
          </a:p>
        </p:txBody>
      </p:sp>
      <p:sp>
        <p:nvSpPr>
          <p:cNvPr id="78" name="Google Shape;78;p6"/>
          <p:cNvSpPr txBox="1"/>
          <p:nvPr>
            <p:ph type="title"/>
          </p:nvPr>
        </p:nvSpPr>
        <p:spPr>
          <a:xfrm>
            <a:off x="258267" y="2248281"/>
            <a:ext cx="8710930" cy="51244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SzPts val="1400"/>
              <a:buNone/>
            </a:pPr>
            <a:r>
              <a:rPr lang="en-US" sz="3200">
                <a:solidFill>
                  <a:srgbClr val="000000"/>
                </a:solidFill>
                <a:latin typeface="Arial"/>
                <a:ea typeface="Arial"/>
                <a:cs typeface="Arial"/>
                <a:sym typeface="Arial"/>
              </a:rPr>
              <a:t>printf("width = %d height = %d\n", width, height);</a:t>
            </a:r>
            <a:endParaRPr sz="3200">
              <a:latin typeface="Arial"/>
              <a:ea typeface="Arial"/>
              <a:cs typeface="Arial"/>
              <a:sym typeface="Arial"/>
            </a:endParaRPr>
          </a:p>
        </p:txBody>
      </p:sp>
      <p:sp>
        <p:nvSpPr>
          <p:cNvPr id="79" name="Google Shape;79;p6"/>
          <p:cNvSpPr txBox="1"/>
          <p:nvPr/>
        </p:nvSpPr>
        <p:spPr>
          <a:xfrm>
            <a:off x="258267" y="3222609"/>
            <a:ext cx="7647305" cy="2269490"/>
          </a:xfrm>
          <a:prstGeom prst="rect">
            <a:avLst/>
          </a:prstGeom>
          <a:noFill/>
          <a:ln>
            <a:noFill/>
          </a:ln>
        </p:spPr>
        <p:txBody>
          <a:bodyPr anchorCtr="0" anchor="t" bIns="0" lIns="0" spcFirstLastPara="1" rIns="0" wrap="square" tIns="110475">
            <a:spAutoFit/>
          </a:bodyPr>
          <a:lstStyle/>
          <a:p>
            <a:pPr indent="0" lvl="0" marL="1270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for(int i = 0; i&lt;height*width*4; i=i+4){</a:t>
            </a:r>
            <a:endParaRPr b="0" i="0" sz="3200" u="none" cap="none" strike="noStrike">
              <a:solidFill>
                <a:srgbClr val="000000"/>
              </a:solidFill>
              <a:latin typeface="Arial"/>
              <a:ea typeface="Arial"/>
              <a:cs typeface="Arial"/>
              <a:sym typeface="Arial"/>
            </a:endParaRPr>
          </a:p>
          <a:p>
            <a:pPr indent="0" lvl="0" marL="927100" marR="5080" rtl="0" algn="l">
              <a:lnSpc>
                <a:spcPct val="100000"/>
              </a:lnSpc>
              <a:spcBef>
                <a:spcPts val="77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printf("%d %d %d %d\n", image[i], image[1+i], image[2+i],	image[3+i]);</a:t>
            </a:r>
            <a:endParaRPr b="0" i="0" sz="3200" u="none" cap="none" strike="noStrike">
              <a:solidFill>
                <a:srgbClr val="000000"/>
              </a:solidFill>
              <a:latin typeface="Arial"/>
              <a:ea typeface="Arial"/>
              <a:cs typeface="Arial"/>
              <a:sym typeface="Arial"/>
            </a:endParaRPr>
          </a:p>
          <a:p>
            <a:pPr indent="0" lvl="0" marL="12700" marR="0" rtl="0" algn="l">
              <a:lnSpc>
                <a:spcPct val="100000"/>
              </a:lnSpc>
              <a:spcBef>
                <a:spcPts val="77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7"/>
          <p:cNvSpPr txBox="1"/>
          <p:nvPr>
            <p:ph type="title"/>
          </p:nvPr>
        </p:nvSpPr>
        <p:spPr>
          <a:xfrm>
            <a:off x="2563495" y="25145"/>
            <a:ext cx="5041900" cy="880744"/>
          </a:xfrm>
          <a:prstGeom prst="rect">
            <a:avLst/>
          </a:prstGeom>
          <a:noFill/>
          <a:ln>
            <a:noFill/>
          </a:ln>
        </p:spPr>
        <p:txBody>
          <a:bodyPr anchorCtr="0" anchor="t" bIns="0" lIns="0" spcFirstLastPara="1" rIns="0" wrap="square" tIns="227275">
            <a:spAutoFit/>
          </a:bodyPr>
          <a:lstStyle/>
          <a:p>
            <a:pPr indent="0" lvl="0" marL="12700" rtl="0" algn="l">
              <a:lnSpc>
                <a:spcPct val="100000"/>
              </a:lnSpc>
              <a:spcBef>
                <a:spcPts val="0"/>
              </a:spcBef>
              <a:spcAft>
                <a:spcPts val="0"/>
              </a:spcAft>
              <a:buSzPts val="1400"/>
              <a:buNone/>
            </a:pPr>
            <a:r>
              <a:rPr lang="en-US"/>
              <a:t>Decoding</a:t>
            </a:r>
            <a:endParaRPr/>
          </a:p>
        </p:txBody>
      </p:sp>
      <p:sp>
        <p:nvSpPr>
          <p:cNvPr id="85" name="Google Shape;85;p7"/>
          <p:cNvSpPr txBox="1"/>
          <p:nvPr/>
        </p:nvSpPr>
        <p:spPr>
          <a:xfrm>
            <a:off x="258267" y="1076909"/>
            <a:ext cx="8811895" cy="4782820"/>
          </a:xfrm>
          <a:prstGeom prst="rect">
            <a:avLst/>
          </a:prstGeom>
          <a:noFill/>
          <a:ln>
            <a:noFill/>
          </a:ln>
        </p:spPr>
        <p:txBody>
          <a:bodyPr anchorCtr="0" anchor="t" bIns="0" lIns="0" spcFirstLastPara="1" rIns="0" wrap="square" tIns="12700">
            <a:spAutoFit/>
          </a:bodyPr>
          <a:lstStyle/>
          <a:p>
            <a:pPr indent="-344805" lvl="0" marL="356870" marR="5080" rtl="0" algn="just">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Notice that the array begins with the data from the top row. In this example, we get blue, blue, red, red, blue, blue, red, red, yellow, yellow, green, green, yellow, yellow, green and green.</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344805" lvl="0" marL="356870" marR="5080" rtl="0" algn="just">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The transparency value for this example is 255 which means no part of the pixel is seen through (opaque). Some images will have sections which will be completely transparent therefore this value will be 0.</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8"/>
          <p:cNvSpPr txBox="1"/>
          <p:nvPr>
            <p:ph type="title"/>
          </p:nvPr>
        </p:nvSpPr>
        <p:spPr>
          <a:xfrm>
            <a:off x="2563495" y="25145"/>
            <a:ext cx="5041900" cy="880744"/>
          </a:xfrm>
          <a:prstGeom prst="rect">
            <a:avLst/>
          </a:prstGeom>
          <a:noFill/>
          <a:ln>
            <a:noFill/>
          </a:ln>
        </p:spPr>
        <p:txBody>
          <a:bodyPr anchorCtr="0" anchor="t" bIns="0" lIns="0" spcFirstLastPara="1" rIns="0" wrap="square" tIns="227275">
            <a:spAutoFit/>
          </a:bodyPr>
          <a:lstStyle/>
          <a:p>
            <a:pPr indent="0" lvl="0" marL="12700" rtl="0" algn="l">
              <a:lnSpc>
                <a:spcPct val="100000"/>
              </a:lnSpc>
              <a:spcBef>
                <a:spcPts val="0"/>
              </a:spcBef>
              <a:spcAft>
                <a:spcPts val="0"/>
              </a:spcAft>
              <a:buSzPts val="1400"/>
              <a:buNone/>
            </a:pPr>
            <a:r>
              <a:rPr lang="en-US"/>
              <a:t>Encoding</a:t>
            </a:r>
            <a:endParaRPr/>
          </a:p>
        </p:txBody>
      </p:sp>
      <p:sp>
        <p:nvSpPr>
          <p:cNvPr id="91" name="Google Shape;91;p8"/>
          <p:cNvSpPr txBox="1"/>
          <p:nvPr/>
        </p:nvSpPr>
        <p:spPr>
          <a:xfrm>
            <a:off x="258267" y="1031189"/>
            <a:ext cx="8613140" cy="5377815"/>
          </a:xfrm>
          <a:prstGeom prst="rect">
            <a:avLst/>
          </a:prstGeom>
          <a:noFill/>
          <a:ln>
            <a:noFill/>
          </a:ln>
        </p:spPr>
        <p:txBody>
          <a:bodyPr anchorCtr="0" anchor="t" bIns="0" lIns="0" spcFirstLastPara="1" rIns="0" wrap="square" tIns="58400">
            <a:spAutoFit/>
          </a:bodyPr>
          <a:lstStyle/>
          <a:p>
            <a:pPr indent="0" lvl="0" marL="12700" marR="211454" rtl="0" algn="l">
              <a:lnSpc>
                <a:spcPct val="9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The last part of any image processing is encoding the processed array into an image. Before, we used the decode function, now, we will use the encode function.</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1280"/>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0" lvl="0" marL="12700" marR="5080" rtl="0" algn="l">
              <a:lnSpc>
                <a:spcPct val="108000"/>
              </a:lnSpc>
              <a:spcBef>
                <a:spcPts val="0"/>
              </a:spcBef>
              <a:spcAft>
                <a:spcPts val="0"/>
              </a:spcAft>
              <a:buClr>
                <a:srgbClr val="000000"/>
              </a:buClr>
              <a:buSzPts val="3000"/>
              <a:buFont typeface="Arial"/>
              <a:buNone/>
            </a:pPr>
            <a:r>
              <a:rPr b="0" i="0" lang="en-US" sz="3000" u="none" cap="none" strike="noStrike">
                <a:solidFill>
                  <a:srgbClr val="FF0000"/>
                </a:solidFill>
                <a:latin typeface="Arial"/>
                <a:ea typeface="Arial"/>
                <a:cs typeface="Arial"/>
                <a:sym typeface="Arial"/>
              </a:rPr>
              <a:t>lodepng_encode32_file(const char* filename, const unsigned char* image, unsigned w, unsigned h)</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1235"/>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0" lvl="0" marL="12700" marR="98425" rtl="0" algn="l">
              <a:lnSpc>
                <a:spcPct val="108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This function requires the new name of the file you wish to generate (filename) and the array of numbers you pass in (image (RGBT values)).</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9"/>
          <p:cNvSpPr txBox="1"/>
          <p:nvPr>
            <p:ph type="title"/>
          </p:nvPr>
        </p:nvSpPr>
        <p:spPr>
          <a:xfrm>
            <a:off x="2563495" y="25145"/>
            <a:ext cx="5041900" cy="880744"/>
          </a:xfrm>
          <a:prstGeom prst="rect">
            <a:avLst/>
          </a:prstGeom>
          <a:noFill/>
          <a:ln>
            <a:noFill/>
          </a:ln>
        </p:spPr>
        <p:txBody>
          <a:bodyPr anchorCtr="0" anchor="t" bIns="0" lIns="0" spcFirstLastPara="1" rIns="0" wrap="square" tIns="227275">
            <a:spAutoFit/>
          </a:bodyPr>
          <a:lstStyle/>
          <a:p>
            <a:pPr indent="0" lvl="0" marL="12700" rtl="0" algn="l">
              <a:lnSpc>
                <a:spcPct val="100000"/>
              </a:lnSpc>
              <a:spcBef>
                <a:spcPts val="0"/>
              </a:spcBef>
              <a:spcAft>
                <a:spcPts val="0"/>
              </a:spcAft>
              <a:buSzPts val="1400"/>
              <a:buNone/>
            </a:pPr>
            <a:r>
              <a:rPr lang="en-US"/>
              <a:t>Demonstration</a:t>
            </a:r>
            <a:endParaRPr/>
          </a:p>
        </p:txBody>
      </p:sp>
      <p:sp>
        <p:nvSpPr>
          <p:cNvPr id="97" name="Google Shape;97;p9"/>
          <p:cNvSpPr txBox="1"/>
          <p:nvPr/>
        </p:nvSpPr>
        <p:spPr>
          <a:xfrm>
            <a:off x="258267" y="1076909"/>
            <a:ext cx="8631555" cy="5514975"/>
          </a:xfrm>
          <a:prstGeom prst="rect">
            <a:avLst/>
          </a:prstGeom>
          <a:noFill/>
          <a:ln>
            <a:noFill/>
          </a:ln>
        </p:spPr>
        <p:txBody>
          <a:bodyPr anchorCtr="0" anchor="t" bIns="0" lIns="0" spcFirstLastPara="1" rIns="0" wrap="square" tIns="12700">
            <a:spAutoFit/>
          </a:bodyPr>
          <a:lstStyle/>
          <a:p>
            <a:pPr indent="-344805" lvl="0" marL="356870" marR="5080" rtl="0" algn="just">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During   the   workshop,   there   will   be   a demonstration of applying a negative filter on an image in regular C and in CUDA.</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1600"/>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344805" lvl="0" marL="356870" marR="5080" rtl="0" algn="just">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NOTE – the regular C program we will create requires lodepng.c. For CUDA, the library input on the command line needs to be a c++ file and therefore we will be using lodepng.cpp.</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1595"/>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344170" lvl="0" marL="356870" marR="0" rtl="0" algn="l">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For regular c </a:t>
            </a:r>
            <a:r>
              <a:rPr b="0" i="0" lang="en-US" sz="3000" u="none" cap="none" strike="noStrike">
                <a:solidFill>
                  <a:srgbClr val="000000"/>
                </a:solidFill>
                <a:latin typeface="Noto Sans Symbols"/>
                <a:ea typeface="Noto Sans Symbols"/>
                <a:cs typeface="Noto Sans Symbols"/>
                <a:sym typeface="Noto Sans Symbols"/>
              </a:rPr>
              <a:t>🡪</a:t>
            </a:r>
            <a:r>
              <a:rPr b="0" i="0" lang="en-US" sz="3000" u="none" cap="none" strike="noStrike">
                <a:solidFill>
                  <a:srgbClr val="000000"/>
                </a:solidFill>
                <a:latin typeface="Times New Roman"/>
                <a:ea typeface="Times New Roman"/>
                <a:cs typeface="Times New Roman"/>
                <a:sym typeface="Times New Roman"/>
              </a:rPr>
              <a:t> </a:t>
            </a:r>
            <a:r>
              <a:rPr b="0" i="0" lang="en-US" sz="3000" u="none" cap="none" strike="noStrike">
                <a:solidFill>
                  <a:srgbClr val="000000"/>
                </a:solidFill>
                <a:latin typeface="Arial"/>
                <a:ea typeface="Arial"/>
                <a:cs typeface="Arial"/>
                <a:sym typeface="Arial"/>
              </a:rPr>
              <a:t>gcc filename.c lodepng.c</a:t>
            </a:r>
            <a:endParaRPr b="0" i="0" sz="3000" u="none" cap="none" strike="noStrike">
              <a:solidFill>
                <a:srgbClr val="000000"/>
              </a:solidFill>
              <a:latin typeface="Arial"/>
              <a:ea typeface="Arial"/>
              <a:cs typeface="Arial"/>
              <a:sym typeface="Arial"/>
            </a:endParaRPr>
          </a:p>
          <a:p>
            <a:pPr indent="-344170" lvl="0" marL="356870" marR="0" rtl="0" algn="l">
              <a:lnSpc>
                <a:spcPct val="100000"/>
              </a:lnSpc>
              <a:spcBef>
                <a:spcPts val="725"/>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For CUDA </a:t>
            </a:r>
            <a:r>
              <a:rPr b="0" i="0" lang="en-US" sz="3000" u="none" cap="none" strike="noStrike">
                <a:solidFill>
                  <a:srgbClr val="000000"/>
                </a:solidFill>
                <a:latin typeface="Noto Sans Symbols"/>
                <a:ea typeface="Noto Sans Symbols"/>
                <a:cs typeface="Noto Sans Symbols"/>
                <a:sym typeface="Noto Sans Symbols"/>
              </a:rPr>
              <a:t>🡪</a:t>
            </a:r>
            <a:r>
              <a:rPr b="0" i="0" lang="en-US" sz="3000" u="none" cap="none" strike="noStrike">
                <a:solidFill>
                  <a:srgbClr val="000000"/>
                </a:solidFill>
                <a:latin typeface="Times New Roman"/>
                <a:ea typeface="Times New Roman"/>
                <a:cs typeface="Times New Roman"/>
                <a:sym typeface="Times New Roman"/>
              </a:rPr>
              <a:t> </a:t>
            </a:r>
            <a:r>
              <a:rPr b="0" i="0" lang="en-US" sz="3000" u="none" cap="none" strike="noStrike">
                <a:solidFill>
                  <a:srgbClr val="000000"/>
                </a:solidFill>
                <a:latin typeface="Arial"/>
                <a:ea typeface="Arial"/>
                <a:cs typeface="Arial"/>
                <a:sym typeface="Arial"/>
              </a:rPr>
              <a:t>nvcc filename.c lodepng.cpp</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0"/>
          <p:cNvSpPr txBox="1"/>
          <p:nvPr>
            <p:ph type="title"/>
          </p:nvPr>
        </p:nvSpPr>
        <p:spPr>
          <a:xfrm>
            <a:off x="474370" y="2672588"/>
            <a:ext cx="7303770" cy="112331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SzPts val="1400"/>
              <a:buNone/>
            </a:pPr>
            <a:r>
              <a:rPr b="1" lang="en-US" sz="3600">
                <a:latin typeface="Cambria"/>
                <a:ea typeface="Cambria"/>
                <a:cs typeface="Cambria"/>
                <a:sym typeface="Cambria"/>
              </a:rPr>
              <a:t>Converting a single array image into a 2D array</a:t>
            </a:r>
            <a:endParaRPr sz="3600">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1"/>
          <p:cNvSpPr txBox="1"/>
          <p:nvPr/>
        </p:nvSpPr>
        <p:spPr>
          <a:xfrm>
            <a:off x="258267" y="25145"/>
            <a:ext cx="8632190" cy="4553585"/>
          </a:xfrm>
          <a:prstGeom prst="rect">
            <a:avLst/>
          </a:prstGeom>
          <a:noFill/>
          <a:ln>
            <a:noFill/>
          </a:ln>
        </p:spPr>
        <p:txBody>
          <a:bodyPr anchorCtr="0" anchor="t" bIns="0" lIns="0" spcFirstLastPara="1" rIns="0" wrap="square" tIns="13325">
            <a:spAutoFit/>
          </a:bodyPr>
          <a:lstStyle/>
          <a:p>
            <a:pPr indent="0" lvl="0" marL="2317750" marR="2665095"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Recap – decoding and encoding</a:t>
            </a:r>
            <a:endParaRPr b="0" i="0" sz="2800" u="none" cap="none" strike="noStrike">
              <a:solidFill>
                <a:srgbClr val="000000"/>
              </a:solidFill>
              <a:latin typeface="Cambria"/>
              <a:ea typeface="Cambria"/>
              <a:cs typeface="Cambria"/>
              <a:sym typeface="Cambria"/>
            </a:endParaRPr>
          </a:p>
          <a:p>
            <a:pPr indent="-344805" lvl="0" marL="356870" marR="5080" rtl="0" algn="just">
              <a:lnSpc>
                <a:spcPct val="80000"/>
              </a:lnSpc>
              <a:spcBef>
                <a:spcPts val="1555"/>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We covered how to take a PNG image, decode the RGBT (Red, Green, Blue and Transparency) values into a single dimensional array and then encode the same values back into a new image. We used the following functions from the library:</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875"/>
              </a:spcBef>
              <a:spcAft>
                <a:spcPts val="0"/>
              </a:spcAft>
              <a:buClr>
                <a:srgbClr val="000000"/>
              </a:buClr>
              <a:buSzPts val="3000"/>
              <a:buFont typeface="Arial"/>
              <a:buNone/>
            </a:pPr>
            <a:r>
              <a:t/>
            </a:r>
            <a:endParaRPr b="0" i="0" sz="3000" u="none" cap="none" strike="noStrike">
              <a:solidFill>
                <a:srgbClr val="000000"/>
              </a:solidFill>
              <a:latin typeface="Arial"/>
              <a:ea typeface="Arial"/>
              <a:cs typeface="Arial"/>
              <a:sym typeface="Arial"/>
            </a:endParaRPr>
          </a:p>
          <a:p>
            <a:pPr indent="-344805" lvl="0" marL="356870" marR="5080" rtl="0" algn="just">
              <a:lnSpc>
                <a:spcPct val="8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unsigned	lodepng_decode32_file(unsigned char** image, unsigned* w, unsigned* h, const char* filename)</a:t>
            </a:r>
            <a:endParaRPr b="0" i="0" sz="3000" u="none" cap="none" strike="noStrike">
              <a:solidFill>
                <a:srgbClr val="000000"/>
              </a:solidFill>
              <a:latin typeface="Arial"/>
              <a:ea typeface="Arial"/>
              <a:cs typeface="Arial"/>
              <a:sym typeface="Arial"/>
            </a:endParaRPr>
          </a:p>
        </p:txBody>
      </p:sp>
      <p:sp>
        <p:nvSpPr>
          <p:cNvPr id="108" name="Google Shape;108;p11"/>
          <p:cNvSpPr txBox="1"/>
          <p:nvPr/>
        </p:nvSpPr>
        <p:spPr>
          <a:xfrm>
            <a:off x="602995" y="5376468"/>
            <a:ext cx="6887209" cy="483234"/>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generatedFilename,	const	unsigned</a:t>
            </a:r>
            <a:endParaRPr b="0" i="0" sz="3000" u="none" cap="none" strike="noStrike">
              <a:solidFill>
                <a:srgbClr val="000000"/>
              </a:solidFill>
              <a:latin typeface="Arial"/>
              <a:ea typeface="Arial"/>
              <a:cs typeface="Arial"/>
              <a:sym typeface="Arial"/>
            </a:endParaRPr>
          </a:p>
        </p:txBody>
      </p:sp>
      <p:sp>
        <p:nvSpPr>
          <p:cNvPr id="109" name="Google Shape;109;p11"/>
          <p:cNvSpPr txBox="1"/>
          <p:nvPr/>
        </p:nvSpPr>
        <p:spPr>
          <a:xfrm>
            <a:off x="258267" y="5010658"/>
            <a:ext cx="8631555" cy="848994"/>
          </a:xfrm>
          <a:prstGeom prst="rect">
            <a:avLst/>
          </a:prstGeom>
          <a:noFill/>
          <a:ln>
            <a:noFill/>
          </a:ln>
        </p:spPr>
        <p:txBody>
          <a:bodyPr anchorCtr="0" anchor="t" bIns="0" lIns="0" spcFirstLastPara="1" rIns="0" wrap="square" tIns="12700">
            <a:spAutoFit/>
          </a:bodyPr>
          <a:lstStyle/>
          <a:p>
            <a:pPr indent="-344170" lvl="0" marL="344170" marR="5715" rtl="0" algn="r">
              <a:lnSpc>
                <a:spcPct val="108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unsigned	lodepng_encode32_file(const	char*</a:t>
            </a:r>
            <a:endParaRPr b="0" i="0" sz="3000" u="none" cap="none" strike="noStrike">
              <a:solidFill>
                <a:srgbClr val="000000"/>
              </a:solidFill>
              <a:latin typeface="Arial"/>
              <a:ea typeface="Arial"/>
              <a:cs typeface="Arial"/>
              <a:sym typeface="Arial"/>
            </a:endParaRPr>
          </a:p>
          <a:p>
            <a:pPr indent="0" lvl="0" marL="0" marR="5080" rtl="0" algn="r">
              <a:lnSpc>
                <a:spcPct val="108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char*</a:t>
            </a:r>
            <a:endParaRPr b="0" i="0" sz="3000" u="none" cap="none" strike="noStrike">
              <a:solidFill>
                <a:srgbClr val="000000"/>
              </a:solidFill>
              <a:latin typeface="Arial"/>
              <a:ea typeface="Arial"/>
              <a:cs typeface="Arial"/>
              <a:sym typeface="Arial"/>
            </a:endParaRPr>
          </a:p>
        </p:txBody>
      </p:sp>
      <p:sp>
        <p:nvSpPr>
          <p:cNvPr id="110" name="Google Shape;110;p11"/>
          <p:cNvSpPr txBox="1"/>
          <p:nvPr/>
        </p:nvSpPr>
        <p:spPr>
          <a:xfrm>
            <a:off x="602995" y="5742533"/>
            <a:ext cx="5401310" cy="482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image, unsigned w, unsigned h)</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2"/>
          <p:cNvSpPr txBox="1"/>
          <p:nvPr/>
        </p:nvSpPr>
        <p:spPr>
          <a:xfrm>
            <a:off x="258267" y="25145"/>
            <a:ext cx="8634730" cy="6454775"/>
          </a:xfrm>
          <a:prstGeom prst="rect">
            <a:avLst/>
          </a:prstGeom>
          <a:noFill/>
          <a:ln>
            <a:noFill/>
          </a:ln>
        </p:spPr>
        <p:txBody>
          <a:bodyPr anchorCtr="0" anchor="t" bIns="0" lIns="0" spcFirstLastPara="1" rIns="0" wrap="square" tIns="13325">
            <a:spAutoFit/>
          </a:bodyPr>
          <a:lstStyle/>
          <a:p>
            <a:pPr indent="0" lvl="0" marL="2317750" marR="1915795"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Problems with single array image data</a:t>
            </a:r>
            <a:endParaRPr b="0" i="0" sz="2800" u="none" cap="none" strike="noStrike">
              <a:solidFill>
                <a:srgbClr val="000000"/>
              </a:solidFill>
              <a:latin typeface="Cambria"/>
              <a:ea typeface="Cambria"/>
              <a:cs typeface="Cambria"/>
              <a:sym typeface="Cambria"/>
            </a:endParaRPr>
          </a:p>
          <a:p>
            <a:pPr indent="-342900" lvl="0" marL="354965" marR="10160" rtl="0" algn="just">
              <a:lnSpc>
                <a:spcPct val="100000"/>
              </a:lnSpc>
              <a:spcBef>
                <a:spcPts val="154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Single  array  images  are  great  for  single  pixel 	manipulation. For example, if we have the following 	2x2 single pixel array:</a:t>
            </a:r>
            <a:endParaRPr b="0" i="0" sz="2800" u="none" cap="none" strike="noStrike">
              <a:solidFill>
                <a:srgbClr val="000000"/>
              </a:solidFill>
              <a:latin typeface="Arial"/>
              <a:ea typeface="Arial"/>
              <a:cs typeface="Arial"/>
              <a:sym typeface="Arial"/>
            </a:endParaRPr>
          </a:p>
          <a:p>
            <a:pPr indent="-342900" lvl="0" marL="355600" marR="0" rtl="0" algn="just">
              <a:lnSpc>
                <a:spcPct val="100000"/>
              </a:lnSpc>
              <a:spcBef>
                <a:spcPts val="68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t>
            </a:r>
            <a:r>
              <a:rPr b="0" i="0" lang="en-US" sz="2800" u="none" cap="none" strike="noStrike">
                <a:solidFill>
                  <a:srgbClr val="FF0000"/>
                </a:solidFill>
                <a:latin typeface="Arial"/>
                <a:ea typeface="Arial"/>
                <a:cs typeface="Arial"/>
                <a:sym typeface="Arial"/>
              </a:rPr>
              <a:t>237</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28</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36</a:t>
            </a:r>
            <a:r>
              <a:rPr b="0" i="0" lang="en-US" sz="2800" u="none" cap="none" strike="noStrike">
                <a:solidFill>
                  <a:srgbClr val="000000"/>
                </a:solidFill>
                <a:latin typeface="Arial"/>
                <a:ea typeface="Arial"/>
                <a:cs typeface="Arial"/>
                <a:sym typeface="Arial"/>
              </a:rPr>
              <a:t>,255,</a:t>
            </a:r>
            <a:r>
              <a:rPr b="0" i="0" lang="en-US" sz="2800" u="none" cap="none" strike="noStrike">
                <a:solidFill>
                  <a:srgbClr val="FF0000"/>
                </a:solidFill>
                <a:latin typeface="Arial"/>
                <a:ea typeface="Arial"/>
                <a:cs typeface="Arial"/>
                <a:sym typeface="Arial"/>
              </a:rPr>
              <a:t>34</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177</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76</a:t>
            </a:r>
            <a:r>
              <a:rPr b="0" i="0" lang="en-US" sz="2800" u="none" cap="none" strike="noStrike">
                <a:solidFill>
                  <a:srgbClr val="000000"/>
                </a:solidFill>
                <a:latin typeface="Arial"/>
                <a:ea typeface="Arial"/>
                <a:cs typeface="Arial"/>
                <a:sym typeface="Arial"/>
              </a:rPr>
              <a:t>,255,</a:t>
            </a:r>
            <a:r>
              <a:rPr b="0" i="0" lang="en-US" sz="2800" u="none" cap="none" strike="noStrike">
                <a:solidFill>
                  <a:srgbClr val="FF0000"/>
                </a:solidFill>
                <a:latin typeface="Arial"/>
                <a:ea typeface="Arial"/>
                <a:cs typeface="Arial"/>
                <a:sym typeface="Arial"/>
              </a:rPr>
              <a:t>255</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242</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0</a:t>
            </a:r>
            <a:r>
              <a:rPr b="0" i="0" lang="en-US" sz="2800" u="none" cap="none" strike="noStrike">
                <a:solidFill>
                  <a:srgbClr val="000000"/>
                </a:solidFill>
                <a:latin typeface="Arial"/>
                <a:ea typeface="Arial"/>
                <a:cs typeface="Arial"/>
                <a:sym typeface="Arial"/>
              </a:rPr>
              <a:t>,255,</a:t>
            </a:r>
            <a:r>
              <a:rPr b="0" i="0" lang="en-US" sz="2800" u="none" cap="none" strike="noStrike">
                <a:solidFill>
                  <a:srgbClr val="FF0000"/>
                </a:solidFill>
                <a:latin typeface="Arial"/>
                <a:ea typeface="Arial"/>
                <a:cs typeface="Arial"/>
                <a:sym typeface="Arial"/>
              </a:rPr>
              <a:t>237</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2</a:t>
            </a:r>
            <a:endParaRPr b="0" i="0" sz="2800" u="none" cap="none" strike="noStrike">
              <a:solidFill>
                <a:srgbClr val="000000"/>
              </a:solidFill>
              <a:latin typeface="Arial"/>
              <a:ea typeface="Arial"/>
              <a:cs typeface="Arial"/>
              <a:sym typeface="Arial"/>
            </a:endParaRPr>
          </a:p>
          <a:p>
            <a:pPr indent="0" lvl="0" marL="356870" marR="0" rtl="0" algn="l">
              <a:lnSpc>
                <a:spcPct val="100000"/>
              </a:lnSpc>
              <a:spcBef>
                <a:spcPts val="0"/>
              </a:spcBef>
              <a:spcAft>
                <a:spcPts val="0"/>
              </a:spcAft>
              <a:buClr>
                <a:srgbClr val="000000"/>
              </a:buClr>
              <a:buSzPts val="2800"/>
              <a:buFont typeface="Arial"/>
              <a:buNone/>
            </a:pPr>
            <a:r>
              <a:rPr b="0" i="0" lang="en-US" sz="2800" u="none" cap="none" strike="noStrike">
                <a:solidFill>
                  <a:srgbClr val="00AF50"/>
                </a:solidFill>
                <a:latin typeface="Arial"/>
                <a:ea typeface="Arial"/>
                <a:cs typeface="Arial"/>
                <a:sym typeface="Arial"/>
              </a:rPr>
              <a:t>8</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36</a:t>
            </a:r>
            <a:r>
              <a:rPr b="0" i="0" lang="en-US" sz="2800" u="none" cap="none" strike="noStrike">
                <a:solidFill>
                  <a:srgbClr val="000000"/>
                </a:solidFill>
                <a:latin typeface="Arial"/>
                <a:ea typeface="Arial"/>
                <a:cs typeface="Arial"/>
                <a:sym typeface="Arial"/>
              </a:rPr>
              <a:t>,255}</a:t>
            </a:r>
            <a:endParaRPr b="0" i="0" sz="2800" u="none" cap="none" strike="noStrike">
              <a:solidFill>
                <a:srgbClr val="000000"/>
              </a:solidFill>
              <a:latin typeface="Arial"/>
              <a:ea typeface="Arial"/>
              <a:cs typeface="Arial"/>
              <a:sym typeface="Arial"/>
            </a:endParaRPr>
          </a:p>
          <a:p>
            <a:pPr indent="-342900" lvl="0" marL="354965" marR="5080" rtl="0" algn="just">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We can add some noise to the image by changing 	the  values,  lets  add  50  to  each  COLOUR  value 	depending on if the value is less than 205 (as max 	is 255). Our new image array will hold the following 	values:</a:t>
            </a:r>
            <a:endParaRPr b="0" i="0" sz="2800" u="none" cap="none" strike="noStrike">
              <a:solidFill>
                <a:srgbClr val="000000"/>
              </a:solidFill>
              <a:latin typeface="Arial"/>
              <a:ea typeface="Arial"/>
              <a:cs typeface="Arial"/>
              <a:sym typeface="Arial"/>
            </a:endParaRPr>
          </a:p>
          <a:p>
            <a:pPr indent="-343535" lvl="0" marL="356235" marR="0" rtl="0" algn="just">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a:t>
            </a:r>
            <a:r>
              <a:rPr b="0" i="0" lang="en-US" sz="2800" u="none" cap="none" strike="noStrike">
                <a:solidFill>
                  <a:srgbClr val="FF0000"/>
                </a:solidFill>
                <a:latin typeface="Arial"/>
                <a:ea typeface="Arial"/>
                <a:cs typeface="Arial"/>
                <a:sym typeface="Arial"/>
              </a:rPr>
              <a:t>237</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78</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86</a:t>
            </a:r>
            <a:r>
              <a:rPr b="0" i="0" lang="en-US" sz="2800" u="none" cap="none" strike="noStrike">
                <a:solidFill>
                  <a:srgbClr val="000000"/>
                </a:solidFill>
                <a:latin typeface="Arial"/>
                <a:ea typeface="Arial"/>
                <a:cs typeface="Arial"/>
                <a:sym typeface="Arial"/>
              </a:rPr>
              <a:t>,255,</a:t>
            </a:r>
            <a:r>
              <a:rPr b="0" i="0" lang="en-US" sz="2800" u="none" cap="none" strike="noStrike">
                <a:solidFill>
                  <a:srgbClr val="FF0000"/>
                </a:solidFill>
                <a:latin typeface="Arial"/>
                <a:ea typeface="Arial"/>
                <a:cs typeface="Arial"/>
                <a:sym typeface="Arial"/>
              </a:rPr>
              <a:t>84</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227</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126</a:t>
            </a:r>
            <a:r>
              <a:rPr b="0" i="0" lang="en-US" sz="2800" u="none" cap="none" strike="noStrike">
                <a:solidFill>
                  <a:srgbClr val="000000"/>
                </a:solidFill>
                <a:latin typeface="Arial"/>
                <a:ea typeface="Arial"/>
                <a:cs typeface="Arial"/>
                <a:sym typeface="Arial"/>
              </a:rPr>
              <a:t>,255,</a:t>
            </a:r>
            <a:r>
              <a:rPr b="0" i="0" lang="en-US" sz="2800" u="none" cap="none" strike="noStrike">
                <a:solidFill>
                  <a:srgbClr val="FF0000"/>
                </a:solidFill>
                <a:latin typeface="Arial"/>
                <a:ea typeface="Arial"/>
                <a:cs typeface="Arial"/>
                <a:sym typeface="Arial"/>
              </a:rPr>
              <a:t>255</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242</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50</a:t>
            </a:r>
            <a:r>
              <a:rPr b="0" i="0" lang="en-US" sz="2800" u="none" cap="none" strike="noStrike">
                <a:solidFill>
                  <a:srgbClr val="000000"/>
                </a:solidFill>
                <a:latin typeface="Arial"/>
                <a:ea typeface="Arial"/>
                <a:cs typeface="Arial"/>
                <a:sym typeface="Arial"/>
              </a:rPr>
              <a:t>,255,</a:t>
            </a:r>
            <a:r>
              <a:rPr b="0" i="0" lang="en-US" sz="2800" u="none" cap="none" strike="noStrike">
                <a:solidFill>
                  <a:srgbClr val="FF0000"/>
                </a:solidFill>
                <a:latin typeface="Arial"/>
                <a:ea typeface="Arial"/>
                <a:cs typeface="Arial"/>
                <a:sym typeface="Arial"/>
              </a:rPr>
              <a:t>237</a:t>
            </a:r>
            <a:endParaRPr b="0" i="0" sz="2800" u="none" cap="none" strike="noStrike">
              <a:solidFill>
                <a:srgbClr val="000000"/>
              </a:solidFill>
              <a:latin typeface="Arial"/>
              <a:ea typeface="Arial"/>
              <a:cs typeface="Arial"/>
              <a:sym typeface="Arial"/>
            </a:endParaRPr>
          </a:p>
          <a:p>
            <a:pPr indent="0" lvl="0" marL="356870" marR="0" rtl="0" algn="l">
              <a:lnSpc>
                <a:spcPct val="100000"/>
              </a:lnSpc>
              <a:spcBef>
                <a:spcPts val="5"/>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78</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86</a:t>
            </a:r>
            <a:r>
              <a:rPr b="0" i="0" lang="en-US" sz="2800" u="none" cap="none" strike="noStrike">
                <a:solidFill>
                  <a:srgbClr val="000000"/>
                </a:solidFill>
                <a:latin typeface="Arial"/>
                <a:ea typeface="Arial"/>
                <a:cs typeface="Arial"/>
                <a:sym typeface="Arial"/>
              </a:rPr>
              <a:t>,255}</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3"/>
          <p:cNvSpPr txBox="1"/>
          <p:nvPr/>
        </p:nvSpPr>
        <p:spPr>
          <a:xfrm>
            <a:off x="258267" y="25145"/>
            <a:ext cx="8633460" cy="6283960"/>
          </a:xfrm>
          <a:prstGeom prst="rect">
            <a:avLst/>
          </a:prstGeom>
          <a:noFill/>
          <a:ln>
            <a:noFill/>
          </a:ln>
        </p:spPr>
        <p:txBody>
          <a:bodyPr anchorCtr="0" anchor="t" bIns="0" lIns="0" spcFirstLastPara="1" rIns="0" wrap="square" tIns="13325">
            <a:spAutoFit/>
          </a:bodyPr>
          <a:lstStyle/>
          <a:p>
            <a:pPr indent="0" lvl="0" marL="2317750" marR="1301115"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Multi-pixel processing with 1D array (6x4)</a:t>
            </a:r>
            <a:endParaRPr b="0" i="0" sz="2800" u="none" cap="none" strike="noStrike">
              <a:solidFill>
                <a:srgbClr val="000000"/>
              </a:solidFill>
              <a:latin typeface="Cambria"/>
              <a:ea typeface="Cambria"/>
              <a:cs typeface="Cambria"/>
              <a:sym typeface="Cambria"/>
            </a:endParaRPr>
          </a:p>
          <a:p>
            <a:pPr indent="-344170" lvl="0" marL="356870" marR="0" rtl="0" algn="l">
              <a:lnSpc>
                <a:spcPct val="100000"/>
              </a:lnSpc>
              <a:spcBef>
                <a:spcPts val="1540"/>
              </a:spcBef>
              <a:spcAft>
                <a:spcPts val="0"/>
              </a:spcAft>
              <a:buClr>
                <a:srgbClr val="FF0000"/>
              </a:buClr>
              <a:buSzPts val="2800"/>
              <a:buFont typeface="Arial"/>
              <a:buChar char="•"/>
            </a:pPr>
            <a:r>
              <a:rPr b="0" i="0" lang="en-US" sz="2800" u="none" cap="none" strike="noStrike">
                <a:solidFill>
                  <a:srgbClr val="FF0000"/>
                </a:solidFill>
                <a:latin typeface="Arial"/>
                <a:ea typeface="Arial"/>
                <a:cs typeface="Arial"/>
                <a:sym typeface="Arial"/>
              </a:rPr>
              <a:t>237</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28</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36</a:t>
            </a:r>
            <a:r>
              <a:rPr b="0" i="0" lang="en-US" sz="2800" u="none" cap="none" strike="noStrike">
                <a:solidFill>
                  <a:srgbClr val="000000"/>
                </a:solidFill>
                <a:latin typeface="Arial"/>
                <a:ea typeface="Arial"/>
                <a:cs typeface="Arial"/>
                <a:sym typeface="Arial"/>
              </a:rPr>
              <a:t>,255,</a:t>
            </a:r>
            <a:r>
              <a:rPr b="0" i="0" lang="en-US" sz="2800" u="none" cap="none" strike="noStrike">
                <a:solidFill>
                  <a:srgbClr val="FF0000"/>
                </a:solidFill>
                <a:latin typeface="Arial"/>
                <a:ea typeface="Arial"/>
                <a:cs typeface="Arial"/>
                <a:sym typeface="Arial"/>
              </a:rPr>
              <a:t>237</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28</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36</a:t>
            </a:r>
            <a:r>
              <a:rPr b="0" i="0" lang="en-US" sz="2800" u="none" cap="none" strike="noStrike">
                <a:solidFill>
                  <a:srgbClr val="000000"/>
                </a:solidFill>
                <a:latin typeface="Arial"/>
                <a:ea typeface="Arial"/>
                <a:cs typeface="Arial"/>
                <a:sym typeface="Arial"/>
              </a:rPr>
              <a:t>,255,</a:t>
            </a:r>
            <a:r>
              <a:rPr b="0" i="0" lang="en-US" sz="2800" u="none" cap="none" strike="noStrike">
                <a:solidFill>
                  <a:srgbClr val="FF0000"/>
                </a:solidFill>
                <a:latin typeface="Arial"/>
                <a:ea typeface="Arial"/>
                <a:cs typeface="Arial"/>
                <a:sym typeface="Arial"/>
              </a:rPr>
              <a:t>34</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177</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76</a:t>
            </a:r>
            <a:r>
              <a:rPr b="0" i="0" lang="en-US" sz="2800" u="none" cap="none" strike="noStrike">
                <a:solidFill>
                  <a:srgbClr val="000000"/>
                </a:solidFill>
                <a:latin typeface="Arial"/>
                <a:ea typeface="Arial"/>
                <a:cs typeface="Arial"/>
                <a:sym typeface="Arial"/>
              </a:rPr>
              <a:t>,255,</a:t>
            </a:r>
            <a:r>
              <a:rPr b="0" i="0" lang="en-US" sz="2800" u="none" cap="none" strike="noStrike">
                <a:solidFill>
                  <a:srgbClr val="FF0000"/>
                </a:solidFill>
                <a:latin typeface="Arial"/>
                <a:ea typeface="Arial"/>
                <a:cs typeface="Arial"/>
                <a:sym typeface="Arial"/>
              </a:rPr>
              <a:t>34</a:t>
            </a:r>
            <a:r>
              <a:rPr b="0" i="0" lang="en-US" sz="2800" u="none" cap="none" strike="noStrike">
                <a:solidFill>
                  <a:srgbClr val="000000"/>
                </a:solidFill>
                <a:latin typeface="Arial"/>
                <a:ea typeface="Arial"/>
                <a:cs typeface="Arial"/>
                <a:sym typeface="Arial"/>
              </a:rPr>
              <a:t>,</a:t>
            </a:r>
            <a:r>
              <a:rPr b="0" i="0" lang="en-US" sz="2800" u="none" cap="none" strike="noStrike">
                <a:solidFill>
                  <a:srgbClr val="00AF50"/>
                </a:solidFill>
                <a:latin typeface="Arial"/>
                <a:ea typeface="Arial"/>
                <a:cs typeface="Arial"/>
                <a:sym typeface="Arial"/>
              </a:rPr>
              <a:t>177</a:t>
            </a:r>
            <a:endParaRPr b="0" i="0" sz="2800" u="none" cap="none" strike="noStrike">
              <a:solidFill>
                <a:srgbClr val="000000"/>
              </a:solidFill>
              <a:latin typeface="Arial"/>
              <a:ea typeface="Arial"/>
              <a:cs typeface="Arial"/>
              <a:sym typeface="Arial"/>
            </a:endParaRPr>
          </a:p>
          <a:p>
            <a:pPr indent="0" lvl="0" marL="35687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t>
            </a:r>
            <a:r>
              <a:rPr b="0" i="0" lang="en-US" sz="2800" u="none" cap="none" strike="noStrike">
                <a:solidFill>
                  <a:srgbClr val="00AFEF"/>
                </a:solidFill>
                <a:latin typeface="Arial"/>
                <a:ea typeface="Arial"/>
                <a:cs typeface="Arial"/>
                <a:sym typeface="Arial"/>
              </a:rPr>
              <a:t>76</a:t>
            </a:r>
            <a:r>
              <a:rPr b="0" i="0" lang="en-US" sz="2800" u="none" cap="none" strike="noStrike">
                <a:solidFill>
                  <a:srgbClr val="000000"/>
                </a:solidFill>
                <a:latin typeface="Arial"/>
                <a:ea typeface="Arial"/>
                <a:cs typeface="Arial"/>
                <a:sym typeface="Arial"/>
              </a:rPr>
              <a:t>,255,255,242,0,255,255,242,0,255,237,28,36,25</a:t>
            </a:r>
            <a:endParaRPr b="0" i="0" sz="2800" u="none" cap="none" strike="noStrike">
              <a:solidFill>
                <a:srgbClr val="000000"/>
              </a:solidFill>
              <a:latin typeface="Arial"/>
              <a:ea typeface="Arial"/>
              <a:cs typeface="Arial"/>
              <a:sym typeface="Arial"/>
            </a:endParaRPr>
          </a:p>
          <a:p>
            <a:pPr indent="0" lvl="0" marL="356870" marR="0" rtl="0" algn="l">
              <a:lnSpc>
                <a:spcPct val="100000"/>
              </a:lnSpc>
              <a:spcBef>
                <a:spcPts val="5"/>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5,237,28,36,255,34,177,76,255,34,177,76,255,255,</a:t>
            </a:r>
            <a:endParaRPr b="0" i="0" sz="2800" u="none" cap="none" strike="noStrike">
              <a:solidFill>
                <a:srgbClr val="000000"/>
              </a:solidFill>
              <a:latin typeface="Arial"/>
              <a:ea typeface="Arial"/>
              <a:cs typeface="Arial"/>
              <a:sym typeface="Arial"/>
            </a:endParaRPr>
          </a:p>
          <a:p>
            <a:pPr indent="0" lvl="0" marL="35687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242,0,255,255,242,0,255,127,127,127,255,127,127,</a:t>
            </a:r>
            <a:endParaRPr b="0" i="0" sz="2800" u="none" cap="none" strike="noStrike">
              <a:solidFill>
                <a:srgbClr val="000000"/>
              </a:solidFill>
              <a:latin typeface="Arial"/>
              <a:ea typeface="Arial"/>
              <a:cs typeface="Arial"/>
              <a:sym typeface="Arial"/>
            </a:endParaRPr>
          </a:p>
          <a:p>
            <a:pPr indent="0" lvl="0" marL="35687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127,255,63,72,204,255,63,72,204,255,185,122,87,2</a:t>
            </a:r>
            <a:endParaRPr b="0" i="0" sz="2800" u="none" cap="none" strike="noStrike">
              <a:solidFill>
                <a:srgbClr val="000000"/>
              </a:solidFill>
              <a:latin typeface="Arial"/>
              <a:ea typeface="Arial"/>
              <a:cs typeface="Arial"/>
              <a:sym typeface="Arial"/>
            </a:endParaRPr>
          </a:p>
          <a:p>
            <a:pPr indent="0" lvl="0" marL="356870" marR="0" rtl="0" algn="l">
              <a:lnSpc>
                <a:spcPct val="100000"/>
              </a:lnSpc>
              <a:spcBef>
                <a:spcPts val="5"/>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55,185,122,87,255,127,127,127,255,127,127,127,2</a:t>
            </a:r>
            <a:endParaRPr b="0" i="0" sz="2800" u="none" cap="none" strike="noStrike">
              <a:solidFill>
                <a:srgbClr val="000000"/>
              </a:solidFill>
              <a:latin typeface="Arial"/>
              <a:ea typeface="Arial"/>
              <a:cs typeface="Arial"/>
              <a:sym typeface="Arial"/>
            </a:endParaRPr>
          </a:p>
          <a:p>
            <a:pPr indent="0" lvl="0" marL="35687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55,63,72,204,255,63,72,204,255,185,122,87,255,18</a:t>
            </a:r>
            <a:endParaRPr b="0" i="0" sz="2800" u="none" cap="none" strike="noStrike">
              <a:solidFill>
                <a:srgbClr val="000000"/>
              </a:solidFill>
              <a:latin typeface="Arial"/>
              <a:ea typeface="Arial"/>
              <a:cs typeface="Arial"/>
              <a:sym typeface="Arial"/>
            </a:endParaRPr>
          </a:p>
          <a:p>
            <a:pPr indent="0" lvl="0" marL="35687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5,122,87,255</a:t>
            </a:r>
            <a:endParaRPr b="0" i="0" sz="2800" u="none" cap="none" strike="noStrike">
              <a:solidFill>
                <a:srgbClr val="000000"/>
              </a:solidFill>
              <a:latin typeface="Arial"/>
              <a:ea typeface="Arial"/>
              <a:cs typeface="Arial"/>
              <a:sym typeface="Arial"/>
            </a:endParaRPr>
          </a:p>
          <a:p>
            <a:pPr indent="-342900" lvl="0" marL="354965" marR="5080" rtl="0" algn="just">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above array represents a 6x4 image however, 	in single dimension, it’s very hard to know which 	pixel is at which coordinate. Let’s format the data 	into it’s correct orientation</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4"/>
          <p:cNvSpPr txBox="1"/>
          <p:nvPr>
            <p:ph type="title"/>
          </p:nvPr>
        </p:nvSpPr>
        <p:spPr>
          <a:xfrm>
            <a:off x="2563495" y="25145"/>
            <a:ext cx="5041900" cy="880744"/>
          </a:xfrm>
          <a:prstGeom prst="rect">
            <a:avLst/>
          </a:prstGeom>
          <a:noFill/>
          <a:ln>
            <a:noFill/>
          </a:ln>
        </p:spPr>
        <p:txBody>
          <a:bodyPr anchorCtr="0" anchor="t" bIns="0" lIns="0" spcFirstLastPara="1" rIns="0" wrap="square" tIns="227275">
            <a:spAutoFit/>
          </a:bodyPr>
          <a:lstStyle/>
          <a:p>
            <a:pPr indent="0" lvl="0" marL="12700" rtl="0" algn="l">
              <a:lnSpc>
                <a:spcPct val="100000"/>
              </a:lnSpc>
              <a:spcBef>
                <a:spcPts val="0"/>
              </a:spcBef>
              <a:spcAft>
                <a:spcPts val="0"/>
              </a:spcAft>
              <a:buSzPts val="1400"/>
              <a:buNone/>
            </a:pPr>
            <a:r>
              <a:rPr lang="en-US"/>
              <a:t>Single dimension to 2D array</a:t>
            </a:r>
            <a:endParaRPr/>
          </a:p>
        </p:txBody>
      </p:sp>
      <p:sp>
        <p:nvSpPr>
          <p:cNvPr id="126" name="Google Shape;126;p14"/>
          <p:cNvSpPr txBox="1"/>
          <p:nvPr/>
        </p:nvSpPr>
        <p:spPr>
          <a:xfrm>
            <a:off x="258267" y="1076909"/>
            <a:ext cx="8366125" cy="490347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Single array data holds pixels in sequence. It’s not very easy to detect the surrounding pixels of 1 single pixel.</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170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Inputs needed to create a 2D array:</a:t>
            </a:r>
            <a:endParaRPr b="0" i="0" sz="3200" u="none" cap="none" strike="noStrike">
              <a:solidFill>
                <a:srgbClr val="000000"/>
              </a:solidFill>
              <a:latin typeface="Arial"/>
              <a:ea typeface="Arial"/>
              <a:cs typeface="Arial"/>
              <a:sym typeface="Arial"/>
            </a:endParaRPr>
          </a:p>
          <a:p>
            <a:pPr indent="-514983" lvl="0" marL="527685" marR="0" rtl="0" algn="l">
              <a:lnSpc>
                <a:spcPct val="100000"/>
              </a:lnSpc>
              <a:spcBef>
                <a:spcPts val="770"/>
              </a:spcBef>
              <a:spcAft>
                <a:spcPts val="0"/>
              </a:spcAft>
              <a:buClr>
                <a:srgbClr val="000000"/>
              </a:buClr>
              <a:buSzPts val="3200"/>
              <a:buFont typeface="Arial"/>
              <a:buAutoNum type="arabicPeriod"/>
            </a:pPr>
            <a:r>
              <a:rPr b="0" i="0" lang="en-US" sz="3200" u="none" cap="none" strike="noStrike">
                <a:solidFill>
                  <a:srgbClr val="000000"/>
                </a:solidFill>
                <a:latin typeface="Arial"/>
                <a:ea typeface="Arial"/>
                <a:cs typeface="Arial"/>
                <a:sym typeface="Arial"/>
              </a:rPr>
              <a:t>Width of image</a:t>
            </a:r>
            <a:endParaRPr b="0" i="0" sz="3200" u="none" cap="none" strike="noStrike">
              <a:solidFill>
                <a:srgbClr val="000000"/>
              </a:solidFill>
              <a:latin typeface="Arial"/>
              <a:ea typeface="Arial"/>
              <a:cs typeface="Arial"/>
              <a:sym typeface="Arial"/>
            </a:endParaRPr>
          </a:p>
          <a:p>
            <a:pPr indent="-514983" lvl="0" marL="527685" marR="0" rtl="0" algn="l">
              <a:lnSpc>
                <a:spcPct val="100000"/>
              </a:lnSpc>
              <a:spcBef>
                <a:spcPts val="770"/>
              </a:spcBef>
              <a:spcAft>
                <a:spcPts val="0"/>
              </a:spcAft>
              <a:buClr>
                <a:srgbClr val="000000"/>
              </a:buClr>
              <a:buSzPts val="3200"/>
              <a:buFont typeface="Arial"/>
              <a:buAutoNum type="arabicPeriod"/>
            </a:pPr>
            <a:r>
              <a:rPr b="0" i="0" lang="en-US" sz="3200" u="none" cap="none" strike="noStrike">
                <a:solidFill>
                  <a:srgbClr val="000000"/>
                </a:solidFill>
                <a:latin typeface="Arial"/>
                <a:ea typeface="Arial"/>
                <a:cs typeface="Arial"/>
                <a:sym typeface="Arial"/>
              </a:rPr>
              <a:t>Height of image</a:t>
            </a:r>
            <a:endParaRPr b="0" i="0" sz="3200" u="none" cap="none" strike="noStrike">
              <a:solidFill>
                <a:srgbClr val="000000"/>
              </a:solidFill>
              <a:latin typeface="Arial"/>
              <a:ea typeface="Arial"/>
              <a:cs typeface="Arial"/>
              <a:sym typeface="Arial"/>
            </a:endParaRPr>
          </a:p>
          <a:p>
            <a:pPr indent="-515619" lvl="0" marL="527685" marR="215900" rtl="0" algn="l">
              <a:lnSpc>
                <a:spcPct val="100000"/>
              </a:lnSpc>
              <a:spcBef>
                <a:spcPts val="770"/>
              </a:spcBef>
              <a:spcAft>
                <a:spcPts val="0"/>
              </a:spcAft>
              <a:buClr>
                <a:srgbClr val="000000"/>
              </a:buClr>
              <a:buSzPts val="3200"/>
              <a:buFont typeface="Arial"/>
              <a:buAutoNum type="arabicPeriod"/>
            </a:pPr>
            <a:r>
              <a:rPr b="0" i="0" lang="en-US" sz="3200" u="none" cap="none" strike="noStrike">
                <a:solidFill>
                  <a:srgbClr val="000000"/>
                </a:solidFill>
                <a:latin typeface="Arial"/>
                <a:ea typeface="Arial"/>
                <a:cs typeface="Arial"/>
                <a:sym typeface="Arial"/>
              </a:rPr>
              <a:t>Number of values per pixel (for this library, we use 4).</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0" name="Shape 130"/>
        <p:cNvGrpSpPr/>
        <p:nvPr/>
      </p:nvGrpSpPr>
      <p:grpSpPr>
        <a:xfrm>
          <a:off x="0" y="0"/>
          <a:ext cx="0" cy="0"/>
          <a:chOff x="0" y="0"/>
          <a:chExt cx="0" cy="0"/>
        </a:xfrm>
      </p:grpSpPr>
      <p:pic>
        <p:nvPicPr>
          <p:cNvPr id="131" name="Google Shape;131;p15"/>
          <p:cNvPicPr preferRelativeResize="0"/>
          <p:nvPr/>
        </p:nvPicPr>
        <p:blipFill rotWithShape="1">
          <a:blip r:embed="rId3">
            <a:alphaModFix/>
          </a:blip>
          <a:srcRect b="0" l="0" r="0" t="0"/>
          <a:stretch/>
        </p:blipFill>
        <p:spPr>
          <a:xfrm>
            <a:off x="0" y="0"/>
            <a:ext cx="9144000" cy="6857999"/>
          </a:xfrm>
          <a:prstGeom prst="rect">
            <a:avLst/>
          </a:prstGeom>
          <a:noFill/>
          <a:ln>
            <a:noFill/>
          </a:ln>
        </p:spPr>
      </p:pic>
      <p:sp>
        <p:nvSpPr>
          <p:cNvPr id="132" name="Google Shape;132;p15"/>
          <p:cNvSpPr txBox="1"/>
          <p:nvPr>
            <p:ph type="title"/>
          </p:nvPr>
        </p:nvSpPr>
        <p:spPr>
          <a:xfrm>
            <a:off x="2563495" y="25145"/>
            <a:ext cx="5041900" cy="880744"/>
          </a:xfrm>
          <a:prstGeom prst="rect">
            <a:avLst/>
          </a:prstGeom>
          <a:noFill/>
          <a:ln>
            <a:noFill/>
          </a:ln>
        </p:spPr>
        <p:txBody>
          <a:bodyPr anchorCtr="0" anchor="t" bIns="0" lIns="0" spcFirstLastPara="1" rIns="0" wrap="square" tIns="227275">
            <a:spAutoFit/>
          </a:bodyPr>
          <a:lstStyle/>
          <a:p>
            <a:pPr indent="0" lvl="0" marL="12700" rtl="0" algn="l">
              <a:lnSpc>
                <a:spcPct val="100000"/>
              </a:lnSpc>
              <a:spcBef>
                <a:spcPts val="0"/>
              </a:spcBef>
              <a:spcAft>
                <a:spcPts val="0"/>
              </a:spcAft>
              <a:buSzPts val="1400"/>
              <a:buNone/>
            </a:pPr>
            <a:r>
              <a:rPr lang="en-US"/>
              <a:t>The 6x4 image</a:t>
            </a:r>
            <a:endParaRPr/>
          </a:p>
        </p:txBody>
      </p:sp>
      <p:pic>
        <p:nvPicPr>
          <p:cNvPr id="133" name="Google Shape;133;p15"/>
          <p:cNvPicPr preferRelativeResize="0"/>
          <p:nvPr/>
        </p:nvPicPr>
        <p:blipFill rotWithShape="1">
          <a:blip r:embed="rId4">
            <a:alphaModFix/>
          </a:blip>
          <a:srcRect b="0" l="0" r="0" t="0"/>
          <a:stretch/>
        </p:blipFill>
        <p:spPr>
          <a:xfrm>
            <a:off x="1371600" y="1066800"/>
            <a:ext cx="6037879" cy="519123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6"/>
          <p:cNvSpPr txBox="1"/>
          <p:nvPr>
            <p:ph type="title"/>
          </p:nvPr>
        </p:nvSpPr>
        <p:spPr>
          <a:xfrm>
            <a:off x="2563495" y="25145"/>
            <a:ext cx="5041900" cy="880744"/>
          </a:xfrm>
          <a:prstGeom prst="rect">
            <a:avLst/>
          </a:prstGeom>
          <a:noFill/>
          <a:ln>
            <a:noFill/>
          </a:ln>
        </p:spPr>
        <p:txBody>
          <a:bodyPr anchorCtr="0" anchor="t" bIns="0" lIns="0" spcFirstLastPara="1" rIns="0" wrap="square" tIns="227275">
            <a:spAutoFit/>
          </a:bodyPr>
          <a:lstStyle/>
          <a:p>
            <a:pPr indent="0" lvl="0" marL="12700" rtl="0" algn="l">
              <a:lnSpc>
                <a:spcPct val="100000"/>
              </a:lnSpc>
              <a:spcBef>
                <a:spcPts val="0"/>
              </a:spcBef>
              <a:spcAft>
                <a:spcPts val="0"/>
              </a:spcAft>
              <a:buSzPts val="1400"/>
              <a:buNone/>
            </a:pPr>
            <a:r>
              <a:rPr lang="en-US"/>
              <a:t>Main code</a:t>
            </a:r>
            <a:endParaRPr/>
          </a:p>
        </p:txBody>
      </p:sp>
      <p:sp>
        <p:nvSpPr>
          <p:cNvPr id="139" name="Google Shape;139;p16"/>
          <p:cNvSpPr txBox="1"/>
          <p:nvPr/>
        </p:nvSpPr>
        <p:spPr>
          <a:xfrm>
            <a:off x="258267" y="978138"/>
            <a:ext cx="8546465" cy="5588000"/>
          </a:xfrm>
          <a:prstGeom prst="rect">
            <a:avLst/>
          </a:prstGeom>
          <a:noFill/>
          <a:ln>
            <a:noFill/>
          </a:ln>
        </p:spPr>
        <p:txBody>
          <a:bodyPr anchorCtr="0" anchor="t" bIns="0" lIns="0" spcFirstLastPara="1" rIns="0" wrap="square" tIns="13325">
            <a:spAutoFit/>
          </a:bodyPr>
          <a:lstStyle/>
          <a:p>
            <a:pPr indent="0" lvl="0" marL="12700" marR="3742690" rtl="0" algn="l">
              <a:lnSpc>
                <a:spcPct val="12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unsigned int error; unsiunsigned char* image; unsigned int width; unsigned int height;</a:t>
            </a:r>
            <a:endParaRPr b="0" i="0" sz="3200" u="none" cap="none" strike="noStrike">
              <a:solidFill>
                <a:srgbClr val="000000"/>
              </a:solidFill>
              <a:latin typeface="Arial"/>
              <a:ea typeface="Arial"/>
              <a:cs typeface="Arial"/>
              <a:sym typeface="Arial"/>
            </a:endParaRPr>
          </a:p>
          <a:p>
            <a:pPr indent="0" lvl="0" marL="12700" marR="0" rtl="0" algn="l">
              <a:lnSpc>
                <a:spcPct val="100000"/>
              </a:lnSpc>
              <a:spcBef>
                <a:spcPts val="77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const char* filename = argv[1];</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170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a:p>
            <a:pPr indent="0" lvl="0" marL="12700" marR="508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The “error” variable will hold a number based on whether the conversion from a PNG file was successful or not. This will then be used to print out the error to the user.</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txBox="1"/>
          <p:nvPr/>
        </p:nvSpPr>
        <p:spPr>
          <a:xfrm>
            <a:off x="2563495" y="238455"/>
            <a:ext cx="1824989" cy="45402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Main Code</a:t>
            </a:r>
            <a:endParaRPr b="0" i="0" sz="2800" u="none" cap="none" strike="noStrike">
              <a:solidFill>
                <a:srgbClr val="000000"/>
              </a:solidFill>
              <a:latin typeface="Cambria"/>
              <a:ea typeface="Cambria"/>
              <a:cs typeface="Cambria"/>
              <a:sym typeface="Cambria"/>
            </a:endParaRPr>
          </a:p>
        </p:txBody>
      </p:sp>
      <p:sp>
        <p:nvSpPr>
          <p:cNvPr id="145" name="Google Shape;145;p17"/>
          <p:cNvSpPr txBox="1"/>
          <p:nvPr>
            <p:ph type="title"/>
          </p:nvPr>
        </p:nvSpPr>
        <p:spPr>
          <a:xfrm>
            <a:off x="258267" y="1076909"/>
            <a:ext cx="8603615" cy="100076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SzPts val="1400"/>
              <a:buNone/>
            </a:pPr>
            <a:r>
              <a:rPr lang="en-US" sz="3200">
                <a:solidFill>
                  <a:srgbClr val="000000"/>
                </a:solidFill>
                <a:latin typeface="Arial"/>
                <a:ea typeface="Arial"/>
                <a:cs typeface="Arial"/>
                <a:sym typeface="Arial"/>
              </a:rPr>
              <a:t>error = lodepng_decode32_file(&amp;image, &amp;width, &amp;height, filename);</a:t>
            </a:r>
            <a:endParaRPr sz="3200">
              <a:latin typeface="Arial"/>
              <a:ea typeface="Arial"/>
              <a:cs typeface="Arial"/>
              <a:sym typeface="Arial"/>
            </a:endParaRPr>
          </a:p>
        </p:txBody>
      </p:sp>
      <p:sp>
        <p:nvSpPr>
          <p:cNvPr id="146" name="Google Shape;146;p17"/>
          <p:cNvSpPr txBox="1"/>
          <p:nvPr/>
        </p:nvSpPr>
        <p:spPr>
          <a:xfrm>
            <a:off x="258267" y="2051481"/>
            <a:ext cx="6144900" cy="2270100"/>
          </a:xfrm>
          <a:prstGeom prst="rect">
            <a:avLst/>
          </a:prstGeom>
          <a:noFill/>
          <a:ln>
            <a:noFill/>
          </a:ln>
        </p:spPr>
        <p:txBody>
          <a:bodyPr anchorCtr="0" anchor="t" bIns="0" lIns="0" spcFirstLastPara="1" rIns="0" wrap="square" tIns="110475">
            <a:spAutoFit/>
          </a:bodyPr>
          <a:lstStyle/>
          <a:p>
            <a:pPr indent="0" lvl="0" marL="1270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if(error){</a:t>
            </a:r>
            <a:endParaRPr b="0" i="0" sz="3200" u="none" cap="none" strike="noStrike">
              <a:solidFill>
                <a:srgbClr val="000000"/>
              </a:solidFill>
              <a:latin typeface="Arial"/>
              <a:ea typeface="Arial"/>
              <a:cs typeface="Arial"/>
              <a:sym typeface="Arial"/>
            </a:endParaRPr>
          </a:p>
          <a:p>
            <a:pPr indent="914400" lvl="0" marL="12700" marR="5080" rtl="0" algn="l">
              <a:lnSpc>
                <a:spcPct val="100000"/>
              </a:lnSpc>
              <a:spcBef>
                <a:spcPts val="77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printf("error %u: %s\n", error, lodepng_error_text(error))</a:t>
            </a:r>
            <a:r>
              <a:rPr b="0" i="0" lang="en-US" sz="3200" u="none" cap="none" strike="noStrike">
                <a:solidFill>
                  <a:srgbClr val="000000"/>
                </a:solidFill>
                <a:latin typeface="Arial"/>
                <a:ea typeface="Arial"/>
                <a:cs typeface="Arial"/>
                <a:sym typeface="Arial"/>
              </a:rPr>
              <a:t>;</a:t>
            </a:r>
            <a:endParaRPr b="0" i="0" sz="3200" u="none" cap="none" strike="noStrike">
              <a:solidFill>
                <a:srgbClr val="000000"/>
              </a:solidFill>
              <a:latin typeface="Arial"/>
              <a:ea typeface="Arial"/>
              <a:cs typeface="Arial"/>
              <a:sym typeface="Arial"/>
            </a:endParaRPr>
          </a:p>
          <a:p>
            <a:pPr indent="0" lvl="0" marL="12700" marR="0" rtl="0" algn="l">
              <a:lnSpc>
                <a:spcPct val="100000"/>
              </a:lnSpc>
              <a:spcBef>
                <a:spcPts val="775"/>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a:t>
            </a:r>
            <a:endParaRPr b="0" i="0" sz="3200" u="none" cap="none" strike="noStrike">
              <a:solidFill>
                <a:srgbClr val="000000"/>
              </a:solidFill>
              <a:latin typeface="Arial"/>
              <a:ea typeface="Arial"/>
              <a:cs typeface="Arial"/>
              <a:sym typeface="Arial"/>
            </a:endParaRPr>
          </a:p>
        </p:txBody>
      </p:sp>
      <p:sp>
        <p:nvSpPr>
          <p:cNvPr id="147" name="Google Shape;147;p17"/>
          <p:cNvSpPr txBox="1"/>
          <p:nvPr/>
        </p:nvSpPr>
        <p:spPr>
          <a:xfrm>
            <a:off x="258267" y="4071946"/>
            <a:ext cx="3319800" cy="1489200"/>
          </a:xfrm>
          <a:prstGeom prst="rect">
            <a:avLst/>
          </a:prstGeom>
          <a:noFill/>
          <a:ln>
            <a:noFill/>
          </a:ln>
        </p:spPr>
        <p:txBody>
          <a:bodyPr anchorCtr="0" anchor="t" bIns="0" lIns="0" spcFirstLastPara="1" rIns="0" wrap="square" tIns="11425">
            <a:spAutoFit/>
          </a:bodyPr>
          <a:lstStyle/>
          <a:p>
            <a:pPr indent="0" lvl="0" marL="12700" marR="508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Our	single	array variable	“image.”</a:t>
            </a:r>
            <a:endParaRPr b="0" i="0" sz="3200" u="none" cap="none" strike="noStrike">
              <a:solidFill>
                <a:srgbClr val="000000"/>
              </a:solidFill>
              <a:latin typeface="Arial"/>
              <a:ea typeface="Arial"/>
              <a:cs typeface="Arial"/>
              <a:sym typeface="Arial"/>
            </a:endParaRPr>
          </a:p>
        </p:txBody>
      </p:sp>
      <p:sp>
        <p:nvSpPr>
          <p:cNvPr id="148" name="Google Shape;148;p17"/>
          <p:cNvSpPr txBox="1"/>
          <p:nvPr/>
        </p:nvSpPr>
        <p:spPr>
          <a:xfrm>
            <a:off x="3764660" y="4394708"/>
            <a:ext cx="5302800" cy="1000200"/>
          </a:xfrm>
          <a:prstGeom prst="rect">
            <a:avLst/>
          </a:prstGeom>
          <a:noFill/>
          <a:ln>
            <a:noFill/>
          </a:ln>
        </p:spPr>
        <p:txBody>
          <a:bodyPr anchorCtr="0" anchor="t" bIns="0" lIns="0" spcFirstLastPara="1" rIns="0" wrap="square" tIns="11425">
            <a:spAutoFit/>
          </a:bodyPr>
          <a:lstStyle/>
          <a:p>
            <a:pPr indent="103504" lvl="0" marL="12700" marR="508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has		been	stored	into		the The	variables	“height”	and</a:t>
            </a:r>
            <a:endParaRPr b="0" i="0" sz="3200" u="none" cap="none" strike="noStrike">
              <a:solidFill>
                <a:srgbClr val="000000"/>
              </a:solidFill>
              <a:latin typeface="Arial"/>
              <a:ea typeface="Arial"/>
              <a:cs typeface="Arial"/>
              <a:sym typeface="Arial"/>
            </a:endParaRPr>
          </a:p>
        </p:txBody>
      </p:sp>
      <p:sp>
        <p:nvSpPr>
          <p:cNvPr id="149" name="Google Shape;149;p17"/>
          <p:cNvSpPr txBox="1"/>
          <p:nvPr/>
        </p:nvSpPr>
        <p:spPr>
          <a:xfrm>
            <a:off x="258267" y="5680572"/>
            <a:ext cx="8813700" cy="1489800"/>
          </a:xfrm>
          <a:prstGeom prst="rect">
            <a:avLst/>
          </a:prstGeom>
          <a:noFill/>
          <a:ln>
            <a:noFill/>
          </a:ln>
        </p:spPr>
        <p:txBody>
          <a:bodyPr anchorCtr="0" anchor="t" bIns="0" lIns="0" spcFirstLastPara="1" rIns="0" wrap="square" tIns="12050">
            <a:spAutoFit/>
          </a:bodyPr>
          <a:lstStyle/>
          <a:p>
            <a:pPr indent="0" lvl="0" marL="12700" marR="5080" rtl="0" algn="just">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“width” hold the dimensions of the image. The filename variable is what we will specify within the command line arguments (index 1).</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txBox="1"/>
          <p:nvPr>
            <p:ph type="title"/>
          </p:nvPr>
        </p:nvSpPr>
        <p:spPr>
          <a:xfrm>
            <a:off x="2563495" y="25145"/>
            <a:ext cx="5041900" cy="880744"/>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SzPts val="1400"/>
              <a:buNone/>
            </a:pPr>
            <a:r>
              <a:rPr lang="en-US"/>
              <a:t>Main Code – creating 2D array variable in C</a:t>
            </a:r>
            <a:endParaRPr/>
          </a:p>
        </p:txBody>
      </p:sp>
      <p:sp>
        <p:nvSpPr>
          <p:cNvPr id="155" name="Google Shape;155;p18"/>
          <p:cNvSpPr txBox="1"/>
          <p:nvPr/>
        </p:nvSpPr>
        <p:spPr>
          <a:xfrm>
            <a:off x="258267" y="1076909"/>
            <a:ext cx="8592185" cy="5293995"/>
          </a:xfrm>
          <a:prstGeom prst="rect">
            <a:avLst/>
          </a:prstGeom>
          <a:noFill/>
          <a:ln>
            <a:noFill/>
          </a:ln>
        </p:spPr>
        <p:txBody>
          <a:bodyPr anchorCtr="0" anchor="t" bIns="0" lIns="0" spcFirstLastPara="1" rIns="0" wrap="square" tIns="12050">
            <a:spAutoFit/>
          </a:bodyPr>
          <a:lstStyle/>
          <a:p>
            <a:pPr indent="0" lvl="0" marL="12700" marR="124460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You can create a 2D array in C using the following syntax:</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170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a:p>
            <a:pPr indent="0" lvl="0" marL="12700" marR="222885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VariableType nameOfVariable[rowSize][ColSize];</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170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a:p>
            <a:pPr indent="0" lvl="0" marL="12700" marR="508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For our program, the variable type is an “unsigned char,” and the dimensions are height as our rows, and width*4 (4 values per pixel) for our columns.</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9"/>
          <p:cNvSpPr txBox="1"/>
          <p:nvPr>
            <p:ph type="title"/>
          </p:nvPr>
        </p:nvSpPr>
        <p:spPr>
          <a:xfrm>
            <a:off x="2563495" y="25145"/>
            <a:ext cx="4164329" cy="880744"/>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SzPts val="1400"/>
              <a:buNone/>
            </a:pPr>
            <a:r>
              <a:rPr lang="en-US"/>
              <a:t>Populating the 2D Array - Theory</a:t>
            </a:r>
            <a:endParaRPr/>
          </a:p>
        </p:txBody>
      </p:sp>
      <p:sp>
        <p:nvSpPr>
          <p:cNvPr id="161" name="Google Shape;161;p19"/>
          <p:cNvSpPr txBox="1"/>
          <p:nvPr/>
        </p:nvSpPr>
        <p:spPr>
          <a:xfrm>
            <a:off x="78739" y="857834"/>
            <a:ext cx="8989800" cy="2246700"/>
          </a:xfrm>
          <a:prstGeom prst="rect">
            <a:avLst/>
          </a:prstGeom>
          <a:noFill/>
          <a:ln>
            <a:noFill/>
          </a:ln>
        </p:spPr>
        <p:txBody>
          <a:bodyPr anchorCtr="0" anchor="t" bIns="0" lIns="0" spcFirstLastPara="1" rIns="0" wrap="square" tIns="13950">
            <a:spAutoFit/>
          </a:bodyPr>
          <a:lstStyle/>
          <a:p>
            <a:pPr indent="-342900" lvl="0" marL="354965" marR="5080" rtl="0" algn="just">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We  will  take  that horrible  long  list  of  numbers  and 	format it into a 6x4 matrix. This is simply 4 rows of 	data which holds 24 values. The 24 values is derived 	by the total of pixels in the “x” multiplied by 4 (RGBT).</a:t>
            </a:r>
            <a:endParaRPr b="0" i="0" sz="2800" u="none" cap="none" strike="noStrike">
              <a:solidFill>
                <a:srgbClr val="000000"/>
              </a:solidFill>
              <a:latin typeface="Arial"/>
              <a:ea typeface="Arial"/>
              <a:cs typeface="Arial"/>
              <a:sym typeface="Arial"/>
            </a:endParaRPr>
          </a:p>
          <a:p>
            <a:pPr indent="-342900" lvl="0" marL="355600" marR="0" rtl="0" algn="just">
              <a:lnSpc>
                <a:spcPct val="100000"/>
              </a:lnSpc>
              <a:spcBef>
                <a:spcPts val="675"/>
              </a:spcBef>
              <a:spcAft>
                <a:spcPts val="0"/>
              </a:spcAft>
              <a:buClr>
                <a:srgbClr val="000000"/>
              </a:buClr>
              <a:buSzPts val="2800"/>
              <a:buFont typeface="Arial"/>
              <a:buChar char="•"/>
            </a:pPr>
            <a:r>
              <a:rPr b="0" i="0" lang="en-US" sz="2800" u="none" cap="none" strike="noStrike">
                <a:solidFill>
                  <a:srgbClr val="000000"/>
                </a:solidFill>
                <a:latin typeface="Arial"/>
                <a:ea typeface="Arial"/>
                <a:cs typeface="Arial"/>
                <a:sym typeface="Arial"/>
              </a:rPr>
              <a:t>The end product should look like the following:</a:t>
            </a:r>
            <a:endParaRPr b="0" i="0" sz="2800" u="none" cap="none" strike="noStrike">
              <a:solidFill>
                <a:srgbClr val="000000"/>
              </a:solidFill>
              <a:latin typeface="Arial"/>
              <a:ea typeface="Arial"/>
              <a:cs typeface="Arial"/>
              <a:sym typeface="Arial"/>
            </a:endParaRPr>
          </a:p>
        </p:txBody>
      </p:sp>
      <p:sp>
        <p:nvSpPr>
          <p:cNvPr id="162" name="Google Shape;162;p19"/>
          <p:cNvSpPr txBox="1"/>
          <p:nvPr/>
        </p:nvSpPr>
        <p:spPr>
          <a:xfrm>
            <a:off x="323532" y="3597414"/>
            <a:ext cx="7886700" cy="708025"/>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40000">
            <a:spAutoFit/>
          </a:bodyPr>
          <a:lstStyle/>
          <a:p>
            <a:pPr indent="0" lvl="0" marL="9144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237,28,36,255,237,28,36,255,34,177,76,255,34,177,76,255,255,242</a:t>
            </a:r>
            <a:endParaRPr b="0" i="0" sz="2000" u="none" cap="none" strike="noStrike">
              <a:solidFill>
                <a:srgbClr val="000000"/>
              </a:solidFill>
              <a:latin typeface="Arial"/>
              <a:ea typeface="Arial"/>
              <a:cs typeface="Arial"/>
              <a:sym typeface="Arial"/>
            </a:endParaRPr>
          </a:p>
          <a:p>
            <a:pPr indent="0" lvl="0" marL="9144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,0,255,255,242,0,255</a:t>
            </a:r>
            <a:endParaRPr b="0" i="0" sz="2000" u="none" cap="none" strike="noStrike">
              <a:solidFill>
                <a:srgbClr val="000000"/>
              </a:solidFill>
              <a:latin typeface="Arial"/>
              <a:ea typeface="Arial"/>
              <a:cs typeface="Arial"/>
              <a:sym typeface="Arial"/>
            </a:endParaRPr>
          </a:p>
        </p:txBody>
      </p:sp>
      <p:sp>
        <p:nvSpPr>
          <p:cNvPr id="163" name="Google Shape;163;p19"/>
          <p:cNvSpPr/>
          <p:nvPr/>
        </p:nvSpPr>
        <p:spPr>
          <a:xfrm>
            <a:off x="343941" y="4427232"/>
            <a:ext cx="7891780" cy="1438275"/>
          </a:xfrm>
          <a:custGeom>
            <a:rect b="b" l="l" r="r" t="t"/>
            <a:pathLst>
              <a:path extrusionOk="0" h="1438275" w="7891780">
                <a:moveTo>
                  <a:pt x="0" y="1437843"/>
                </a:moveTo>
                <a:lnTo>
                  <a:pt x="7886700" y="1437843"/>
                </a:lnTo>
                <a:lnTo>
                  <a:pt x="7886700" y="729957"/>
                </a:lnTo>
                <a:lnTo>
                  <a:pt x="0" y="729957"/>
                </a:lnTo>
                <a:lnTo>
                  <a:pt x="0" y="1437843"/>
                </a:lnTo>
                <a:close/>
              </a:path>
              <a:path extrusionOk="0" h="1438275" w="7891780">
                <a:moveTo>
                  <a:pt x="4699" y="707885"/>
                </a:moveTo>
                <a:lnTo>
                  <a:pt x="7891399" y="707885"/>
                </a:lnTo>
                <a:lnTo>
                  <a:pt x="7891399" y="0"/>
                </a:lnTo>
                <a:lnTo>
                  <a:pt x="4699" y="0"/>
                </a:lnTo>
                <a:lnTo>
                  <a:pt x="4699" y="707885"/>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 name="Google Shape;164;p19"/>
          <p:cNvSpPr txBox="1"/>
          <p:nvPr/>
        </p:nvSpPr>
        <p:spPr>
          <a:xfrm>
            <a:off x="351053" y="4455998"/>
            <a:ext cx="7877175" cy="1364615"/>
          </a:xfrm>
          <a:prstGeom prst="rect">
            <a:avLst/>
          </a:prstGeom>
          <a:noFill/>
          <a:ln>
            <a:noFill/>
          </a:ln>
        </p:spPr>
        <p:txBody>
          <a:bodyPr anchorCtr="0" anchor="t" bIns="0" lIns="0" spcFirstLastPara="1" rIns="0" wrap="square" tIns="12050">
            <a:spAutoFit/>
          </a:bodyPr>
          <a:lstStyle/>
          <a:p>
            <a:pPr indent="0" lvl="0" marL="889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127,127,127,255,127,127,127,255,63,72,204,255,63,72,204,255,18</a:t>
            </a:r>
            <a:endParaRPr b="0" i="0" sz="2000" u="none" cap="none" strike="noStrike">
              <a:solidFill>
                <a:srgbClr val="000000"/>
              </a:solidFill>
              <a:latin typeface="Arial"/>
              <a:ea typeface="Arial"/>
              <a:cs typeface="Arial"/>
              <a:sym typeface="Arial"/>
            </a:endParaRPr>
          </a:p>
          <a:p>
            <a:pPr indent="0" lvl="0" marL="889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5,122,87,255,185,122,87,255</a:t>
            </a:r>
            <a:endParaRPr b="0" i="0" sz="2000" u="none" cap="none" strike="noStrike">
              <a:solidFill>
                <a:srgbClr val="000000"/>
              </a:solidFill>
              <a:latin typeface="Arial"/>
              <a:ea typeface="Arial"/>
              <a:cs typeface="Arial"/>
              <a:sym typeface="Arial"/>
            </a:endParaRPr>
          </a:p>
          <a:p>
            <a:pPr indent="0" lvl="0" marL="84455" marR="0" rtl="0" algn="l">
              <a:lnSpc>
                <a:spcPct val="100000"/>
              </a:lnSpc>
              <a:spcBef>
                <a:spcPts val="944"/>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237,28,36,255,237,28,36,255,34,177,76,255,34,177,76,255,255,242</a:t>
            </a:r>
            <a:endParaRPr b="0" i="0" sz="2000" u="none" cap="none" strike="noStrike">
              <a:solidFill>
                <a:srgbClr val="000000"/>
              </a:solidFill>
              <a:latin typeface="Arial"/>
              <a:ea typeface="Arial"/>
              <a:cs typeface="Arial"/>
              <a:sym typeface="Arial"/>
            </a:endParaRPr>
          </a:p>
          <a:p>
            <a:pPr indent="0" lvl="0" marL="84455" marR="0" rtl="0" algn="l">
              <a:lnSpc>
                <a:spcPct val="100000"/>
              </a:lnSpc>
              <a:spcBef>
                <a:spcPts val="5"/>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,0,255,255,242,0,255</a:t>
            </a:r>
            <a:endParaRPr b="0" i="0" sz="2000" u="none" cap="none" strike="noStrike">
              <a:solidFill>
                <a:srgbClr val="000000"/>
              </a:solidFill>
              <a:latin typeface="Arial"/>
              <a:ea typeface="Arial"/>
              <a:cs typeface="Arial"/>
              <a:sym typeface="Arial"/>
            </a:endParaRPr>
          </a:p>
        </p:txBody>
      </p:sp>
      <p:sp>
        <p:nvSpPr>
          <p:cNvPr id="165" name="Google Shape;165;p19"/>
          <p:cNvSpPr txBox="1"/>
          <p:nvPr/>
        </p:nvSpPr>
        <p:spPr>
          <a:xfrm>
            <a:off x="345084" y="5999569"/>
            <a:ext cx="7886700" cy="708025"/>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41275">
            <a:spAutoFit/>
          </a:bodyPr>
          <a:lstStyle/>
          <a:p>
            <a:pPr indent="0" lvl="0" marL="9144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127,127,127,255,127,127,127,255,63,72,204,255,63,72,204,255,18</a:t>
            </a:r>
            <a:endParaRPr b="0" i="0" sz="2000" u="none" cap="none" strike="noStrike">
              <a:solidFill>
                <a:srgbClr val="000000"/>
              </a:solidFill>
              <a:latin typeface="Arial"/>
              <a:ea typeface="Arial"/>
              <a:cs typeface="Arial"/>
              <a:sym typeface="Arial"/>
            </a:endParaRPr>
          </a:p>
          <a:p>
            <a:pPr indent="0" lvl="0" marL="9144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5,122,87,255,185,122,87,255</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2563495" y="25145"/>
            <a:ext cx="5041900" cy="880744"/>
          </a:xfrm>
          <a:prstGeom prst="rect">
            <a:avLst/>
          </a:prstGeom>
          <a:noFill/>
          <a:ln>
            <a:noFill/>
          </a:ln>
        </p:spPr>
        <p:txBody>
          <a:bodyPr anchorCtr="0" anchor="t" bIns="0" lIns="0" spcFirstLastPara="1" rIns="0" wrap="square" tIns="13325">
            <a:spAutoFit/>
          </a:bodyPr>
          <a:lstStyle/>
          <a:p>
            <a:pPr indent="0" lvl="0" marL="12700" marR="5080" rtl="0" algn="l">
              <a:lnSpc>
                <a:spcPct val="100000"/>
              </a:lnSpc>
              <a:spcBef>
                <a:spcPts val="0"/>
              </a:spcBef>
              <a:spcAft>
                <a:spcPts val="0"/>
              </a:spcAft>
              <a:buSzPts val="1400"/>
              <a:buNone/>
            </a:pPr>
            <a:r>
              <a:rPr lang="en-US"/>
              <a:t>Main code – populating 2D array</a:t>
            </a:r>
            <a:endParaRPr/>
          </a:p>
        </p:txBody>
      </p:sp>
      <p:sp>
        <p:nvSpPr>
          <p:cNvPr id="171" name="Google Shape;171;p20"/>
          <p:cNvSpPr txBox="1"/>
          <p:nvPr/>
        </p:nvSpPr>
        <p:spPr>
          <a:xfrm>
            <a:off x="258267" y="1000709"/>
            <a:ext cx="8425800" cy="504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for(int row=0; row&lt;height; row++){</a:t>
            </a:r>
            <a:endParaRPr b="0" i="0" sz="2500" u="none" cap="none" strike="noStrike">
              <a:solidFill>
                <a:srgbClr val="000000"/>
              </a:solidFill>
              <a:latin typeface="Arial"/>
              <a:ea typeface="Arial"/>
              <a:cs typeface="Arial"/>
              <a:sym typeface="Arial"/>
            </a:endParaRPr>
          </a:p>
          <a:p>
            <a:pPr indent="0" lvl="0" marL="92710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for(int col=0; col&lt;width*4; col=col+4){</a:t>
            </a:r>
            <a:endParaRPr b="0" i="0" sz="2500" u="none" cap="none" strike="noStrike">
              <a:solidFill>
                <a:srgbClr val="000000"/>
              </a:solidFill>
              <a:latin typeface="Arial"/>
              <a:ea typeface="Arial"/>
              <a:cs typeface="Arial"/>
              <a:sym typeface="Arial"/>
            </a:endParaRPr>
          </a:p>
          <a:p>
            <a:pPr indent="0" lvl="0" marL="927100" marR="66675" rtl="0" algn="l">
              <a:lnSpc>
                <a:spcPct val="1601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image2D[row][col]=image[(row*width*4)+col]; image2D[row][col+1]=image[(row*width*4)+col+1]; image2D[row][col+2]=image[(row*width*4)+col+2]; image2D[row][col+3]=image[(row*width*4)+col+3];</a:t>
            </a:r>
            <a:r>
              <a:rPr b="0" i="0" lang="en-US" sz="2500" u="none" cap="none" strike="noStrike">
                <a:solidFill>
                  <a:srgbClr val="000000"/>
                </a:solidFill>
                <a:latin typeface="Arial"/>
                <a:ea typeface="Arial"/>
                <a:cs typeface="Arial"/>
                <a:sym typeface="Arial"/>
              </a:rPr>
              <a:t>	}</a:t>
            </a:r>
            <a:endParaRPr b="0" i="0" sz="2500" u="none" cap="none" strike="noStrike">
              <a:solidFill>
                <a:srgbClr val="000000"/>
              </a:solidFill>
              <a:latin typeface="Arial"/>
              <a:ea typeface="Arial"/>
              <a:cs typeface="Arial"/>
              <a:sym typeface="Arial"/>
            </a:endParaRPr>
          </a:p>
          <a:p>
            <a:pPr indent="0" lvl="0" marL="12700" marR="0" rtl="0" algn="l">
              <a:lnSpc>
                <a:spcPct val="100000"/>
              </a:lnSpc>
              <a:spcBef>
                <a:spcPts val="2405"/>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a:t>
            </a:r>
            <a:endParaRPr b="0" i="0" sz="2500" u="none" cap="none" strike="noStrike">
              <a:solidFill>
                <a:srgbClr val="000000"/>
              </a:solidFill>
              <a:latin typeface="Arial"/>
              <a:ea typeface="Arial"/>
              <a:cs typeface="Arial"/>
              <a:sym typeface="Arial"/>
            </a:endParaRPr>
          </a:p>
          <a:p>
            <a:pPr indent="0" lvl="0" marL="12700" marR="5080" rtl="0" algn="l">
              <a:lnSpc>
                <a:spcPct val="96000"/>
              </a:lnSpc>
              <a:spcBef>
                <a:spcPts val="0"/>
              </a:spcBef>
              <a:spcAft>
                <a:spcPts val="0"/>
              </a:spcAft>
              <a:buClr>
                <a:srgbClr val="000000"/>
              </a:buClr>
              <a:buSzPts val="2500"/>
              <a:buFont typeface="Arial"/>
              <a:buNone/>
            </a:pPr>
            <a:r>
              <a:rPr b="0" i="0" lang="en-US" sz="2500" u="none" cap="none" strike="noStrike">
                <a:solidFill>
                  <a:srgbClr val="000000"/>
                </a:solidFill>
                <a:latin typeface="Arial"/>
                <a:ea typeface="Arial"/>
                <a:cs typeface="Arial"/>
                <a:sym typeface="Arial"/>
              </a:rPr>
              <a:t>We use 2 nested for loops which act as coordinate counters for our 2D array. We jump every 4 values for the width as each pixel holds 4 attributes.</a:t>
            </a:r>
            <a:endParaRPr b="0" i="0" sz="25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nvSpPr>
        <p:spPr>
          <a:xfrm>
            <a:off x="2563495" y="238455"/>
            <a:ext cx="4158615" cy="45402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2800"/>
              <a:buFont typeface="Arial"/>
              <a:buNone/>
            </a:pPr>
            <a:r>
              <a:rPr b="0" i="0" lang="en-US" sz="2800" u="none" cap="none" strike="noStrike">
                <a:solidFill>
                  <a:srgbClr val="FFFFFF"/>
                </a:solidFill>
                <a:latin typeface="Cambria"/>
                <a:ea typeface="Cambria"/>
                <a:cs typeface="Cambria"/>
                <a:sym typeface="Cambria"/>
              </a:rPr>
              <a:t>Print contents of 2D array</a:t>
            </a:r>
            <a:endParaRPr b="0" i="0" sz="2800" u="none" cap="none" strike="noStrike">
              <a:solidFill>
                <a:srgbClr val="000000"/>
              </a:solidFill>
              <a:latin typeface="Cambria"/>
              <a:ea typeface="Cambria"/>
              <a:cs typeface="Cambria"/>
              <a:sym typeface="Cambria"/>
            </a:endParaRPr>
          </a:p>
        </p:txBody>
      </p:sp>
      <p:sp>
        <p:nvSpPr>
          <p:cNvPr id="177" name="Google Shape;177;p21"/>
          <p:cNvSpPr txBox="1"/>
          <p:nvPr>
            <p:ph type="title"/>
          </p:nvPr>
        </p:nvSpPr>
        <p:spPr>
          <a:xfrm>
            <a:off x="258267" y="978138"/>
            <a:ext cx="7552055" cy="1099185"/>
          </a:xfrm>
          <a:prstGeom prst="rect">
            <a:avLst/>
          </a:prstGeom>
          <a:noFill/>
          <a:ln>
            <a:noFill/>
          </a:ln>
        </p:spPr>
        <p:txBody>
          <a:bodyPr anchorCtr="0" anchor="t" bIns="0" lIns="0" spcFirstLastPara="1" rIns="0" wrap="square" tIns="12700">
            <a:spAutoFit/>
          </a:bodyPr>
          <a:lstStyle/>
          <a:p>
            <a:pPr indent="-915035" lvl="0" marL="927100" marR="5080" rtl="0" algn="l">
              <a:lnSpc>
                <a:spcPct val="110100"/>
              </a:lnSpc>
              <a:spcBef>
                <a:spcPts val="0"/>
              </a:spcBef>
              <a:spcAft>
                <a:spcPts val="0"/>
              </a:spcAft>
              <a:buSzPts val="1400"/>
              <a:buNone/>
            </a:pPr>
            <a:r>
              <a:rPr lang="en-US" sz="3200">
                <a:solidFill>
                  <a:srgbClr val="000000"/>
                </a:solidFill>
                <a:latin typeface="Arial"/>
                <a:ea typeface="Arial"/>
                <a:cs typeface="Arial"/>
                <a:sym typeface="Arial"/>
              </a:rPr>
              <a:t>for(int row1=0; row1&lt;height; row1++){ for(int col1=0; col1&lt;width*4; col1++){</a:t>
            </a:r>
            <a:endParaRPr sz="3200">
              <a:latin typeface="Arial"/>
              <a:ea typeface="Arial"/>
              <a:cs typeface="Arial"/>
              <a:sym typeface="Arial"/>
            </a:endParaRPr>
          </a:p>
        </p:txBody>
      </p:sp>
      <p:sp>
        <p:nvSpPr>
          <p:cNvPr id="178" name="Google Shape;178;p21"/>
          <p:cNvSpPr txBox="1"/>
          <p:nvPr/>
        </p:nvSpPr>
        <p:spPr>
          <a:xfrm>
            <a:off x="258267" y="2540584"/>
            <a:ext cx="8199120" cy="4074160"/>
          </a:xfrm>
          <a:prstGeom prst="rect">
            <a:avLst/>
          </a:prstGeom>
          <a:noFill/>
          <a:ln>
            <a:noFill/>
          </a:ln>
        </p:spPr>
        <p:txBody>
          <a:bodyPr anchorCtr="0" anchor="t" bIns="0" lIns="0" spcFirstLastPara="1" rIns="0" wrap="square" tIns="12050">
            <a:spAutoFit/>
          </a:bodyPr>
          <a:lstStyle/>
          <a:p>
            <a:pPr indent="0" lvl="0" marL="1841500" marR="0" rtl="0" algn="l">
              <a:lnSpc>
                <a:spcPct val="114062"/>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printf("%d ", image2D[row1][col1]);</a:t>
            </a:r>
            <a:endParaRPr b="0" i="0" sz="3200" u="none" cap="none" strike="noStrike">
              <a:solidFill>
                <a:srgbClr val="000000"/>
              </a:solidFill>
              <a:latin typeface="Arial"/>
              <a:ea typeface="Arial"/>
              <a:cs typeface="Arial"/>
              <a:sym typeface="Arial"/>
            </a:endParaRPr>
          </a:p>
          <a:p>
            <a:pPr indent="0" lvl="0" marL="4585970" marR="0" rtl="0" algn="l">
              <a:lnSpc>
                <a:spcPct val="114062"/>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if((col1+1)%4 == 0){</a:t>
            </a:r>
            <a:endParaRPr b="0" i="0" sz="3200" u="none" cap="none" strike="noStrike">
              <a:solidFill>
                <a:srgbClr val="000000"/>
              </a:solidFill>
              <a:latin typeface="Arial"/>
              <a:ea typeface="Arial"/>
              <a:cs typeface="Arial"/>
              <a:sym typeface="Arial"/>
            </a:endParaRPr>
          </a:p>
          <a:p>
            <a:pPr indent="0" lvl="0" marL="0" marR="0" rtl="0" algn="l">
              <a:lnSpc>
                <a:spcPct val="100000"/>
              </a:lnSpc>
              <a:spcBef>
                <a:spcPts val="16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a:p>
            <a:pPr indent="0" lvl="0" marL="2756535"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printf("| ");</a:t>
            </a:r>
            <a:endParaRPr b="0" i="0" sz="3200" u="none" cap="none" strike="noStrike">
              <a:solidFill>
                <a:srgbClr val="000000"/>
              </a:solidFill>
              <a:latin typeface="Arial"/>
              <a:ea typeface="Arial"/>
              <a:cs typeface="Arial"/>
              <a:sym typeface="Arial"/>
            </a:endParaRPr>
          </a:p>
          <a:p>
            <a:pPr indent="0" lvl="0" marL="1841500" marR="0" rtl="0" algn="l">
              <a:lnSpc>
                <a:spcPct val="100000"/>
              </a:lnSpc>
              <a:spcBef>
                <a:spcPts val="385"/>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a:t>
            </a:r>
            <a:endParaRPr b="0" i="0" sz="3200" u="none" cap="none" strike="noStrike">
              <a:solidFill>
                <a:srgbClr val="000000"/>
              </a:solidFill>
              <a:latin typeface="Arial"/>
              <a:ea typeface="Arial"/>
              <a:cs typeface="Arial"/>
              <a:sym typeface="Arial"/>
            </a:endParaRPr>
          </a:p>
          <a:p>
            <a:pPr indent="0" lvl="0" marL="927100" marR="0" rtl="0" algn="l">
              <a:lnSpc>
                <a:spcPct val="100000"/>
              </a:lnSpc>
              <a:spcBef>
                <a:spcPts val="385"/>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a:t>
            </a:r>
            <a:endParaRPr b="0" i="0" sz="3200" u="none" cap="none" strike="noStrike">
              <a:solidFill>
                <a:srgbClr val="000000"/>
              </a:solidFill>
              <a:latin typeface="Arial"/>
              <a:ea typeface="Arial"/>
              <a:cs typeface="Arial"/>
              <a:sym typeface="Arial"/>
            </a:endParaRPr>
          </a:p>
          <a:p>
            <a:pPr indent="0" lvl="0" marL="927100" marR="0" rtl="0" algn="l">
              <a:lnSpc>
                <a:spcPct val="100000"/>
              </a:lnSpc>
              <a:spcBef>
                <a:spcPts val="385"/>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printf("\n");</a:t>
            </a:r>
            <a:endParaRPr b="0" i="0" sz="3200" u="none" cap="none" strike="noStrike">
              <a:solidFill>
                <a:srgbClr val="000000"/>
              </a:solidFill>
              <a:latin typeface="Arial"/>
              <a:ea typeface="Arial"/>
              <a:cs typeface="Arial"/>
              <a:sym typeface="Arial"/>
            </a:endParaRPr>
          </a:p>
          <a:p>
            <a:pPr indent="0" lvl="0" marL="12700" marR="0" rtl="0" algn="l">
              <a:lnSpc>
                <a:spcPct val="100000"/>
              </a:lnSpc>
              <a:spcBef>
                <a:spcPts val="39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ph type="title"/>
          </p:nvPr>
        </p:nvSpPr>
        <p:spPr>
          <a:xfrm>
            <a:off x="2563495" y="25145"/>
            <a:ext cx="5041900" cy="880744"/>
          </a:xfrm>
          <a:prstGeom prst="rect">
            <a:avLst/>
          </a:prstGeom>
          <a:noFill/>
          <a:ln>
            <a:noFill/>
          </a:ln>
        </p:spPr>
        <p:txBody>
          <a:bodyPr anchorCtr="0" anchor="t" bIns="0" lIns="0" spcFirstLastPara="1" rIns="0" wrap="square" tIns="227275">
            <a:spAutoFit/>
          </a:bodyPr>
          <a:lstStyle/>
          <a:p>
            <a:pPr indent="0" lvl="0" marL="12700" rtl="0" algn="l">
              <a:lnSpc>
                <a:spcPct val="100000"/>
              </a:lnSpc>
              <a:spcBef>
                <a:spcPts val="0"/>
              </a:spcBef>
              <a:spcAft>
                <a:spcPts val="0"/>
              </a:spcAft>
              <a:buSzPts val="1400"/>
              <a:buNone/>
            </a:pPr>
            <a:r>
              <a:rPr lang="en-US"/>
              <a:t>References</a:t>
            </a:r>
            <a:endParaRPr/>
          </a:p>
        </p:txBody>
      </p:sp>
      <p:sp>
        <p:nvSpPr>
          <p:cNvPr id="184" name="Google Shape;184;p22"/>
          <p:cNvSpPr txBox="1"/>
          <p:nvPr/>
        </p:nvSpPr>
        <p:spPr>
          <a:xfrm>
            <a:off x="258267" y="1076909"/>
            <a:ext cx="4931410" cy="512445"/>
          </a:xfrm>
          <a:prstGeom prst="rect">
            <a:avLst/>
          </a:prstGeom>
          <a:noFill/>
          <a:ln>
            <a:noFill/>
          </a:ln>
        </p:spPr>
        <p:txBody>
          <a:bodyPr anchorCtr="0" anchor="t" bIns="0" lIns="0" spcFirstLastPara="1" rIns="0" wrap="square" tIns="12050">
            <a:spAutoFit/>
          </a:bodyPr>
          <a:lstStyle/>
          <a:p>
            <a:pPr indent="-344170" lvl="0" marL="356870" marR="0" rtl="0" algn="l">
              <a:lnSpc>
                <a:spcPct val="100000"/>
              </a:lnSpc>
              <a:spcBef>
                <a:spcPts val="0"/>
              </a:spcBef>
              <a:spcAft>
                <a:spcPts val="0"/>
              </a:spcAft>
              <a:buClr>
                <a:srgbClr val="000000"/>
              </a:buClr>
              <a:buSzPts val="3200"/>
              <a:buFont typeface="Arial"/>
              <a:buChar char="•"/>
            </a:pPr>
            <a:r>
              <a:rPr b="0" i="0" lang="en-US" sz="3200" u="sng" cap="none" strike="noStrike">
                <a:solidFill>
                  <a:srgbClr val="009999"/>
                </a:solidFill>
                <a:latin typeface="Arial"/>
                <a:ea typeface="Arial"/>
                <a:cs typeface="Arial"/>
                <a:sym typeface="Arial"/>
                <a:hlinkClick r:id="rId3">
                  <a:extLst>
                    <a:ext uri="{A12FA001-AC4F-418D-AE19-62706E023703}">
                      <ahyp:hlinkClr val="tx"/>
                    </a:ext>
                  </a:extLst>
                </a:hlinkClick>
              </a:rPr>
              <a:t>https://lodev.org/lodepng/</a:t>
            </a:r>
            <a:endParaRPr b="0" i="0" sz="3200" u="none" cap="none" strike="noStrike">
              <a:solidFill>
                <a:srgbClr val="000000"/>
              </a:solidFill>
              <a:latin typeface="Arial"/>
              <a:ea typeface="Arial"/>
              <a:cs typeface="Arial"/>
              <a:sym typeface="Arial"/>
            </a:endParaRPr>
          </a:p>
        </p:txBody>
      </p:sp>
      <p:pic>
        <p:nvPicPr>
          <p:cNvPr id="185" name="Google Shape;185;p22"/>
          <p:cNvPicPr preferRelativeResize="0"/>
          <p:nvPr/>
        </p:nvPicPr>
        <p:blipFill rotWithShape="1">
          <a:blip r:embed="rId4">
            <a:alphaModFix/>
          </a:blip>
          <a:srcRect b="0" l="0" r="0" t="0"/>
          <a:stretch/>
        </p:blipFill>
        <p:spPr>
          <a:xfrm>
            <a:off x="10529" y="1772792"/>
            <a:ext cx="8629650" cy="478269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txBox="1"/>
          <p:nvPr>
            <p:ph type="title"/>
          </p:nvPr>
        </p:nvSpPr>
        <p:spPr>
          <a:xfrm>
            <a:off x="474370" y="2946857"/>
            <a:ext cx="43263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b="1" lang="en-US" sz="3600">
                <a:latin typeface="Cambria"/>
                <a:ea typeface="Cambria"/>
                <a:cs typeface="Cambria"/>
                <a:sym typeface="Cambria"/>
              </a:rPr>
              <a:t>End of Tutorial </a:t>
            </a:r>
            <a:r>
              <a:rPr b="1" lang="en-US" sz="3600"/>
              <a:t>11</a:t>
            </a:r>
            <a:endParaRPr sz="3600">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9999"/>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2024-12-25T07:17:51Z</dcterms:created>
  <dc:creator>Jnaneshwar Bohara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2021-12-02T00:00:00Z</vt:filetime>
  </property>
  <property fmtid="{D5CDD505-2E9C-101B-9397-08002B2CF9AE}" pid="3" name="Creator">
    <vt:lpwstr>Microsoft® PowerPoint® 2010</vt:lpwstr>
  </property>
  <property fmtid="{D5CDD505-2E9C-101B-9397-08002B2CF9AE}" pid="4" name="LastSaved">
    <vt:filetime>2024-12-25T00:00:00Z</vt:filetime>
  </property>
  <property fmtid="{D5CDD505-2E9C-101B-9397-08002B2CF9AE}" pid="5" name="Producer">
    <vt:lpwstr>Microsoft® PowerPoint® 2010</vt:lpwstr>
  </property>
</Properties>
</file>