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9144000"/>
  <p:notesSz cx="6797675" cy="9926625"/>
  <p:embeddedFontLst>
    <p:embeddedFont>
      <p:font typeface="Helvetica Neue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3126">
          <p15:clr>
            <a:srgbClr val="A4A3A4"/>
          </p15:clr>
        </p15:guide>
        <p15:guide id="2" pos="2098">
          <p15:clr>
            <a:srgbClr val="A4A3A4"/>
          </p15:clr>
        </p15:guide>
        <p15:guide id="3" pos="2140">
          <p15:clr>
            <a:srgbClr val="A4A3A4"/>
          </p15:clr>
        </p15:guide>
      </p15:notesGuideLst>
    </p:ext>
    <p:ext uri="GoogleSlidesCustomDataVersion2">
      <go:slidesCustomData xmlns:go="http://customooxmlschemas.google.com/" r:id="rId34" roundtripDataSignature="AMtx7mi67Ybpzw4smwu0JOz0Ty0i4DQU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126" orient="horz"/>
        <p:guide pos="2098"/>
        <p:guide pos="214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HelveticaNeue-bold.fntdata"/><Relationship Id="rId30" Type="http://schemas.openxmlformats.org/officeDocument/2006/relationships/font" Target="fonts/HelveticaNeue-regular.fntdata"/><Relationship Id="rId11" Type="http://schemas.openxmlformats.org/officeDocument/2006/relationships/slide" Target="slides/slide6.xml"/><Relationship Id="rId33" Type="http://schemas.openxmlformats.org/officeDocument/2006/relationships/font" Target="fonts/HelveticaNeue-boldItalic.fntdata"/><Relationship Id="rId10" Type="http://schemas.openxmlformats.org/officeDocument/2006/relationships/slide" Target="slides/slide5.xml"/><Relationship Id="rId32" Type="http://schemas.openxmlformats.org/officeDocument/2006/relationships/font" Target="fonts/HelveticaNeue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1" y="0"/>
            <a:ext cx="2946145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49911" y="0"/>
            <a:ext cx="2946144" cy="49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1" y="9428164"/>
            <a:ext cx="2946145" cy="496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49911" y="9428164"/>
            <a:ext cx="2946144" cy="496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2" type="sldNum"/>
          </p:nvPr>
        </p:nvSpPr>
        <p:spPr>
          <a:xfrm>
            <a:off x="3849911" y="9428164"/>
            <a:ext cx="2946144" cy="496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p4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 txBox="1"/>
          <p:nvPr>
            <p:ph idx="12" type="sldNum"/>
          </p:nvPr>
        </p:nvSpPr>
        <p:spPr>
          <a:xfrm>
            <a:off x="3849911" y="9428164"/>
            <a:ext cx="2946144" cy="496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9" name="Google Shape;79;p6:notes"/>
          <p:cNvSpPr txBox="1"/>
          <p:nvPr>
            <p:ph idx="12" type="sldNum"/>
          </p:nvPr>
        </p:nvSpPr>
        <p:spPr>
          <a:xfrm>
            <a:off x="3849911" y="9428164"/>
            <a:ext cx="2946144" cy="4968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7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8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9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10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11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12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13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14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15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6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17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8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19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20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21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p22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p23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:notes"/>
          <p:cNvSpPr txBox="1"/>
          <p:nvPr>
            <p:ph idx="1" type="body"/>
          </p:nvPr>
        </p:nvSpPr>
        <p:spPr>
          <a:xfrm>
            <a:off x="680254" y="4714876"/>
            <a:ext cx="5437168" cy="4467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" name="Google Shape;202;p24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6"/>
          <p:cNvSpPr txBox="1"/>
          <p:nvPr>
            <p:ph type="ctrTitle"/>
          </p:nvPr>
        </p:nvSpPr>
        <p:spPr>
          <a:xfrm>
            <a:off x="395536" y="2512921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6"/>
          <p:cNvSpPr txBox="1"/>
          <p:nvPr>
            <p:ph idx="1" type="subTitle"/>
          </p:nvPr>
        </p:nvSpPr>
        <p:spPr>
          <a:xfrm>
            <a:off x="395536" y="4268688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ckwell"/>
              <a:buNone/>
              <a:defRPr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7"/>
          <p:cNvSpPr txBox="1"/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7"/>
          <p:cNvSpPr txBox="1"/>
          <p:nvPr>
            <p:ph idx="1" type="body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8"/>
          <p:cNvSpPr txBox="1"/>
          <p:nvPr>
            <p:ph type="title"/>
          </p:nvPr>
        </p:nvSpPr>
        <p:spPr>
          <a:xfrm>
            <a:off x="323862" y="1004877"/>
            <a:ext cx="8424863" cy="551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8"/>
          <p:cNvSpPr txBox="1"/>
          <p:nvPr>
            <p:ph idx="1" type="body"/>
          </p:nvPr>
        </p:nvSpPr>
        <p:spPr>
          <a:xfrm>
            <a:off x="323850" y="1628801"/>
            <a:ext cx="4135438" cy="5544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21" name="Google Shape;21;p28"/>
          <p:cNvSpPr txBox="1"/>
          <p:nvPr>
            <p:ph idx="2" type="body"/>
          </p:nvPr>
        </p:nvSpPr>
        <p:spPr>
          <a:xfrm>
            <a:off x="4611700" y="1628801"/>
            <a:ext cx="4137025" cy="5544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9"/>
          <p:cNvSpPr txBox="1"/>
          <p:nvPr>
            <p:ph type="title"/>
          </p:nvPr>
        </p:nvSpPr>
        <p:spPr>
          <a:xfrm>
            <a:off x="457200" y="151391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9"/>
          <p:cNvSpPr txBox="1"/>
          <p:nvPr>
            <p:ph idx="1" type="body"/>
          </p:nvPr>
        </p:nvSpPr>
        <p:spPr>
          <a:xfrm>
            <a:off x="457200" y="2774389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25" name="Google Shape;25;p29"/>
          <p:cNvSpPr txBox="1"/>
          <p:nvPr>
            <p:ph idx="2" type="body"/>
          </p:nvPr>
        </p:nvSpPr>
        <p:spPr>
          <a:xfrm>
            <a:off x="457200" y="3414149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26" name="Google Shape;26;p29"/>
          <p:cNvSpPr txBox="1"/>
          <p:nvPr>
            <p:ph idx="3" type="body"/>
          </p:nvPr>
        </p:nvSpPr>
        <p:spPr>
          <a:xfrm>
            <a:off x="4645033" y="2774389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27" name="Google Shape;27;p29"/>
          <p:cNvSpPr txBox="1"/>
          <p:nvPr>
            <p:ph idx="4" type="body"/>
          </p:nvPr>
        </p:nvSpPr>
        <p:spPr>
          <a:xfrm>
            <a:off x="4645033" y="3414149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1"/>
          <p:cNvSpPr txBox="1"/>
          <p:nvPr>
            <p:ph type="title"/>
          </p:nvPr>
        </p:nvSpPr>
        <p:spPr>
          <a:xfrm>
            <a:off x="457212" y="1594873"/>
            <a:ext cx="3008313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" type="body"/>
          </p:nvPr>
        </p:nvSpPr>
        <p:spPr>
          <a:xfrm>
            <a:off x="3575050" y="1594881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/>
            </a:lvl9pPr>
          </a:lstStyle>
          <a:p/>
        </p:txBody>
      </p:sp>
      <p:sp>
        <p:nvSpPr>
          <p:cNvPr id="32" name="Google Shape;32;p31"/>
          <p:cNvSpPr txBox="1"/>
          <p:nvPr>
            <p:ph idx="2" type="body"/>
          </p:nvPr>
        </p:nvSpPr>
        <p:spPr>
          <a:xfrm>
            <a:off x="457212" y="2756931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/>
          <p:nvPr>
            <p:ph type="title"/>
          </p:nvPr>
        </p:nvSpPr>
        <p:spPr>
          <a:xfrm>
            <a:off x="323863" y="980728"/>
            <a:ext cx="7488498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1" type="body"/>
          </p:nvPr>
        </p:nvSpPr>
        <p:spPr>
          <a:xfrm rot="5400000">
            <a:off x="2016014" y="-63351"/>
            <a:ext cx="5040560" cy="842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3"/>
          <p:cNvSpPr txBox="1"/>
          <p:nvPr>
            <p:ph type="title"/>
          </p:nvPr>
        </p:nvSpPr>
        <p:spPr>
          <a:xfrm rot="5400000">
            <a:off x="4964919" y="2669385"/>
            <a:ext cx="5462588" cy="2105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1" type="body"/>
          </p:nvPr>
        </p:nvSpPr>
        <p:spPr>
          <a:xfrm rot="5400000">
            <a:off x="676275" y="638178"/>
            <a:ext cx="5462588" cy="6167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5"/>
          <p:cNvSpPr txBox="1"/>
          <p:nvPr>
            <p:ph type="title"/>
          </p:nvPr>
        </p:nvSpPr>
        <p:spPr>
          <a:xfrm>
            <a:off x="323863" y="980728"/>
            <a:ext cx="7488498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1" name="Google Shape;11;p25"/>
          <p:cNvSpPr txBox="1"/>
          <p:nvPr>
            <p:ph idx="1" type="body"/>
          </p:nvPr>
        </p:nvSpPr>
        <p:spPr>
          <a:xfrm>
            <a:off x="323862" y="1628801"/>
            <a:ext cx="8424863" cy="504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b="0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"/>
          <p:cNvSpPr txBox="1"/>
          <p:nvPr>
            <p:ph idx="1" type="subTitle"/>
          </p:nvPr>
        </p:nvSpPr>
        <p:spPr>
          <a:xfrm>
            <a:off x="373626" y="1411918"/>
            <a:ext cx="9143999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4000"/>
              <a:buFont typeface="Rockwell"/>
              <a:buNone/>
            </a:pPr>
            <a:r>
              <a:t/>
            </a:r>
            <a:endParaRPr sz="4400">
              <a:solidFill>
                <a:srgbClr val="FFC000"/>
              </a:solidFill>
            </a:endParaRPr>
          </a:p>
          <a:p>
            <a:pPr indent="-228600" lvl="0" marL="228600" marR="508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SzPts val="3200"/>
              <a:buNone/>
            </a:pPr>
            <a:r>
              <a:rPr lang="en-US" sz="400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6CS005 High Performance  Computing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965"/>
              </a:spcBef>
              <a:spcAft>
                <a:spcPts val="0"/>
              </a:spcAft>
              <a:buSzPts val="3200"/>
              <a:buNone/>
            </a:pPr>
            <a:r>
              <a:rPr lang="en-US" sz="440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 3</a:t>
            </a:r>
            <a:endParaRPr sz="4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" name="Google Shape;45;p1"/>
          <p:cNvSpPr txBox="1"/>
          <p:nvPr/>
        </p:nvSpPr>
        <p:spPr>
          <a:xfrm>
            <a:off x="132980" y="3615003"/>
            <a:ext cx="7546013" cy="766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228600" marR="228854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AF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Parallel Computing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"/>
          <p:cNvSpPr txBox="1"/>
          <p:nvPr>
            <p:ph type="title"/>
          </p:nvPr>
        </p:nvSpPr>
        <p:spPr>
          <a:xfrm>
            <a:off x="3063871" y="24945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Contents</a:t>
            </a:r>
            <a:endParaRPr/>
          </a:p>
        </p:txBody>
      </p:sp>
      <p:sp>
        <p:nvSpPr>
          <p:cNvPr id="51" name="Google Shape;51;p2"/>
          <p:cNvSpPr txBox="1"/>
          <p:nvPr>
            <p:ph idx="1" type="body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Parallel Computing Overview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Key Components of Parallel Computing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Serial and Parallel Computing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Sequential and Parallel Programming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Relationship Between Tasks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Classification of Computing Systems: Flynn’s Classification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Enhancing Computational Efficiency: Key Objectives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Classification of Computer Architecture by Memory Organization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Homogeneous Computing</a:t>
            </a:r>
            <a:endParaRPr/>
          </a:p>
          <a:p>
            <a:pPr indent="-342884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Homogeneous Architecture</a:t>
            </a:r>
            <a:endParaRPr/>
          </a:p>
          <a:p>
            <a:pPr indent="-139683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683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683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683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683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683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683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39683" lvl="0" marL="34288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>
            <p:ph type="title"/>
          </p:nvPr>
        </p:nvSpPr>
        <p:spPr>
          <a:xfrm>
            <a:off x="2493600" y="308452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Parallel Computing Overview</a:t>
            </a:r>
            <a:endParaRPr/>
          </a:p>
        </p:txBody>
      </p:sp>
      <p:sp>
        <p:nvSpPr>
          <p:cNvPr id="57" name="Google Shape;57;p3"/>
          <p:cNvSpPr txBox="1"/>
          <p:nvPr>
            <p:ph idx="1" type="body"/>
          </p:nvPr>
        </p:nvSpPr>
        <p:spPr>
          <a:xfrm>
            <a:off x="179512" y="1241375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084" lvl="0" marL="342884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Primary goal of parallel computing is to improve the speed of computation by performing many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calculations simultaneously</a:t>
            </a:r>
            <a:endParaRPr sz="2400"/>
          </a:p>
          <a:p>
            <a:pPr indent="-292084" lvl="0" marL="342884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Definition:</a:t>
            </a:r>
            <a:endParaRPr sz="2400"/>
          </a:p>
          <a:p>
            <a:pPr indent="-292084" lvl="1" marL="800084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Calculation perspective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: Large problems are divided into smaller tasks, solved concurrently</a:t>
            </a:r>
            <a:endParaRPr sz="2400"/>
          </a:p>
          <a:p>
            <a:pPr indent="-292084" lvl="1" marL="800084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–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Programmer perspective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: Concurrent tasks are mapped onto multiple computing resources (cores or computers) for parallel execution</a:t>
            </a:r>
            <a:endParaRPr sz="2400"/>
          </a:p>
          <a:p>
            <a:pPr indent="-292084" lvl="0" marL="342884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Parallel computing involves the close integration of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hardware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to achieve efficient performance in solving complex problems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 txBox="1"/>
          <p:nvPr>
            <p:ph type="title"/>
          </p:nvPr>
        </p:nvSpPr>
        <p:spPr>
          <a:xfrm>
            <a:off x="2536723" y="188639"/>
            <a:ext cx="5244871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Key Components of Parallel Computing</a:t>
            </a:r>
            <a:endParaRPr/>
          </a:p>
        </p:txBody>
      </p:sp>
      <p:sp>
        <p:nvSpPr>
          <p:cNvPr id="63" name="Google Shape;63;p4"/>
          <p:cNvSpPr txBox="1"/>
          <p:nvPr>
            <p:ph idx="1" type="body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Hardware (Computer Architecture)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Focuses on supporting parallelism at the architectural level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Software (Parallel Programing)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Focuses on solving a problem concurrently by fully using the computational power of the computer architecture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Note: </a:t>
            </a:r>
            <a:r>
              <a:rPr i="1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enable parallel execution in software, the hardware must support concurrent execution of multiple processes or threads.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 txBox="1"/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Hardware (Computer Architecture)</a:t>
            </a:r>
            <a:endParaRPr/>
          </a:p>
        </p:txBody>
      </p:sp>
      <p:sp>
        <p:nvSpPr>
          <p:cNvPr id="70" name="Google Shape;70;p5"/>
          <p:cNvSpPr txBox="1"/>
          <p:nvPr>
            <p:ph idx="1" type="body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Most modern processors utilize the </a:t>
            </a: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Harvard architecture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instead of the </a:t>
            </a:r>
            <a:r>
              <a:rPr i="1" lang="en-US">
                <a:latin typeface="Times New Roman"/>
                <a:ea typeface="Times New Roman"/>
                <a:cs typeface="Times New Roman"/>
                <a:sym typeface="Times New Roman"/>
              </a:rPr>
              <a:t>Von Neumann architecture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descr="von Neumann architecture - Wikipedia" id="71" name="Google Shape;71;p5"/>
          <p:cNvSpPr/>
          <p:nvPr/>
        </p:nvSpPr>
        <p:spPr>
          <a:xfrm>
            <a:off x="4419599" y="3276599"/>
            <a:ext cx="2246671" cy="2246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Von Neumann Architecture - Semiconductor Engineering" id="72" name="Google Shape;7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4773" y="3209160"/>
            <a:ext cx="3942993" cy="2596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361" y="2845255"/>
            <a:ext cx="3831238" cy="2471538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5"/>
          <p:cNvSpPr txBox="1"/>
          <p:nvPr/>
        </p:nvSpPr>
        <p:spPr>
          <a:xfrm>
            <a:off x="1590909" y="5764762"/>
            <a:ext cx="171553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Harvard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5719915" y="5843206"/>
            <a:ext cx="20906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Von Neuman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 txBox="1"/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Contd…</a:t>
            </a:r>
            <a:endParaRPr/>
          </a:p>
        </p:txBody>
      </p:sp>
      <p:sp>
        <p:nvSpPr>
          <p:cNvPr id="82" name="Google Shape;82;p6"/>
          <p:cNvSpPr txBox="1"/>
          <p:nvPr>
            <p:ph idx="1" type="body"/>
          </p:nvPr>
        </p:nvSpPr>
        <p:spPr>
          <a:xfrm>
            <a:off x="179513" y="1052737"/>
            <a:ext cx="5002088" cy="46794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CPU(Core):</a:t>
            </a:r>
            <a:endParaRPr/>
          </a:p>
          <a:p>
            <a:pPr indent="-342900" lvl="1" marL="9144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primary component for processing tasks</a:t>
            </a:r>
            <a:endParaRPr/>
          </a:p>
          <a:p>
            <a:pPr indent="-342900" lvl="1" marL="9144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Early computers operated with a single core on a chip, known as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uniprocessor</a:t>
            </a:r>
            <a:endParaRPr/>
          </a:p>
          <a:p>
            <a:pPr indent="-342900" lvl="1" marL="9144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Modern chip design integrates multiple cores(individual processing unit within a processor) into a single processor, referred to as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multicore architecture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1" marL="9144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This design supports parallelism, allowing multiple tasks to be processed simultaneously</a:t>
            </a:r>
            <a:endParaRPr/>
          </a:p>
          <a:p>
            <a:pPr indent="-342900" lvl="1" marL="9144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Example </a:t>
            </a:r>
            <a:r>
              <a:rPr lang="en-US" sz="1800" u="sng">
                <a:latin typeface="Times New Roman"/>
                <a:ea typeface="Times New Roman"/>
                <a:cs typeface="Times New Roman"/>
                <a:sym typeface="Times New Roman"/>
              </a:rPr>
              <a:t>Quad-core processor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(Intel Core i7-7700 or AMD Ryzen 7, has four cores (Core 0, Core 1, Core 2, Core 3)  that can run separate thread simultaneously</a:t>
            </a:r>
            <a:endParaRPr/>
          </a:p>
        </p:txBody>
      </p:sp>
      <p:pic>
        <p:nvPicPr>
          <p:cNvPr descr="Core Processor - an overview | ScienceDirect Topics" id="83" name="Google Shape;8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0400" y="2044360"/>
            <a:ext cx="3345432" cy="2693502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6"/>
          <p:cNvSpPr txBox="1"/>
          <p:nvPr/>
        </p:nvSpPr>
        <p:spPr>
          <a:xfrm>
            <a:off x="689190" y="5805263"/>
            <a:ext cx="7245443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DIMM</a:t>
            </a:r>
            <a:r>
              <a:rPr b="0" i="1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Dual Inline Memory Module are essential components in core processor architecture, </a:t>
            </a:r>
            <a:br>
              <a:rPr b="0" i="1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1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providing the necessary memory resources for efficient processing, types or volatile memory</a:t>
            </a:r>
            <a:br>
              <a:rPr b="0" i="1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Level 3 Cache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of cache memory used in computer architecture to improve the performance </a:t>
            </a:r>
            <a:br>
              <a:rPr b="0" i="1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1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CPU by storing frequently accessed data and instructions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6233651" y="5190410"/>
            <a:ext cx="222048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Processor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/>
          <p:nvPr>
            <p:ph type="title"/>
          </p:nvPr>
        </p:nvSpPr>
        <p:spPr>
          <a:xfrm>
            <a:off x="2405109" y="11658"/>
            <a:ext cx="5932646" cy="686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br>
              <a:rPr lang="en-US"/>
            </a:br>
            <a:r>
              <a:rPr lang="en-US"/>
              <a:t>Can a quad-core processor handle four tasks at the same time?</a:t>
            </a:r>
            <a:endParaRPr/>
          </a:p>
        </p:txBody>
      </p:sp>
      <p:sp>
        <p:nvSpPr>
          <p:cNvPr id="91" name="Google Shape;91;p7"/>
          <p:cNvSpPr txBox="1"/>
          <p:nvPr>
            <p:ph idx="1" type="body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The ability of a quad-core processor to handle four tasks simultaneously is not automatic; it depends on several factors:</a:t>
            </a:r>
            <a:endParaRPr/>
          </a:p>
          <a:p>
            <a:pPr indent="-342900" lvl="0" marL="4572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Multithreading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-342900" lvl="1" marL="9144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Single-Threaded Applications:</a:t>
            </a:r>
            <a:endParaRPr/>
          </a:p>
          <a:p>
            <a:pPr indent="-342900" lvl="2" marL="13716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If an application is single-threaded, it can only use one core at a time, even on a quad-core processor, activating only one core for that task.</a:t>
            </a:r>
            <a:endParaRPr/>
          </a:p>
          <a:p>
            <a:pPr indent="-342900" lvl="1" marL="9144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Multi-Threaded Applications:</a:t>
            </a:r>
            <a:endParaRPr/>
          </a:p>
          <a:p>
            <a:pPr indent="-342900" lvl="2" marL="13716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Multi-threaded applications can utilize multiple cores by splitting workloads into separate threads, enabling concurrent execution. A well-optimized multi-threaded application can effectively use all four cores of a quad-core processor.</a:t>
            </a:r>
            <a:endParaRPr/>
          </a:p>
          <a:p>
            <a:pPr indent="-342900" lvl="0" marL="4572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Operating System and Task Management</a:t>
            </a:r>
            <a:endParaRPr/>
          </a:p>
          <a:p>
            <a:pPr indent="-342900" lvl="1" marL="9144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The operating system manages tasks and allocates them to available cores, distributing processes or threads based on their availability and workload.</a:t>
            </a:r>
            <a:endParaRPr/>
          </a:p>
          <a:p>
            <a:pPr indent="-228600" lvl="1" marL="9144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 txBox="1"/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Serial and Parallel Computing</a:t>
            </a:r>
            <a:endParaRPr/>
          </a:p>
        </p:txBody>
      </p:sp>
      <p:pic>
        <p:nvPicPr>
          <p:cNvPr id="97" name="Google Shape;9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6852" y="1164634"/>
            <a:ext cx="6838130" cy="5230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"/>
          <p:cNvSpPr txBox="1"/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Sequential and Parallel Programming</a:t>
            </a:r>
            <a:endParaRPr/>
          </a:p>
        </p:txBody>
      </p:sp>
      <p:sp>
        <p:nvSpPr>
          <p:cNvPr id="103" name="Google Shape;103;p9"/>
          <p:cNvSpPr txBox="1"/>
          <p:nvPr>
            <p:ph idx="1" type="body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Sequential Programming</a:t>
            </a:r>
            <a:endParaRPr/>
          </a:p>
          <a:p>
            <a:pPr indent="-342900" lvl="1" marL="9144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Involves writing code where tasks are executed one after the other</a:t>
            </a:r>
            <a:endParaRPr/>
          </a:p>
          <a:p>
            <a:pPr indent="-342900" lvl="1" marL="9144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Each calculation or instruction waits for the previous one to complete</a:t>
            </a:r>
            <a:endParaRPr/>
          </a:p>
          <a:p>
            <a:pPr indent="-228600" lvl="1" marL="9144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" name="Google Shape;10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2387" y="3692184"/>
            <a:ext cx="5753434" cy="2113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 txBox="1"/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Relationship Between Tasks</a:t>
            </a:r>
            <a:endParaRPr/>
          </a:p>
        </p:txBody>
      </p:sp>
      <p:sp>
        <p:nvSpPr>
          <p:cNvPr id="110" name="Google Shape;110;p10"/>
          <p:cNvSpPr txBox="1"/>
          <p:nvPr>
            <p:ph idx="1" type="body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Based on execution constraints:</a:t>
            </a:r>
            <a:endParaRPr/>
          </a:p>
          <a:p>
            <a:pPr indent="-342900" lvl="0" marL="4572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Sequential/Dependent Tasks:</a:t>
            </a:r>
            <a:endParaRPr/>
          </a:p>
          <a:p>
            <a:pPr indent="-342900" lvl="1" marL="9144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Dependent tasks are tasks that have a direct relationship where the outcome of one task is necessary for the next task to execute</a:t>
            </a:r>
            <a:endParaRPr/>
          </a:p>
          <a:p>
            <a:pPr indent="-342900" lvl="0" marL="4572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Concurrent/Independent Tasks:</a:t>
            </a:r>
            <a:endParaRPr/>
          </a:p>
          <a:p>
            <a:pPr indent="-342900" lvl="1" marL="9144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Independent tasks are tasks that can operate on their own without needing to wait for the results of other tasks</a:t>
            </a:r>
            <a:endParaRPr/>
          </a:p>
          <a:p>
            <a:pPr indent="-342900" lvl="0" marL="4572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Understanding data dependencies is crucial for implementing parallel algorithms, as they are major barriers to achieving parallelism</a:t>
            </a:r>
            <a:endParaRPr/>
          </a:p>
          <a:p>
            <a:pPr indent="-342900" lvl="0" marL="4572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Often,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multiple independent chains of dependent tasks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provide the best opportunities for effective parallelization.</a:t>
            </a:r>
            <a:endParaRPr/>
          </a:p>
          <a:p>
            <a:pPr indent="-228600" lvl="0" marL="4572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Contd…</a:t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Multiple independent chains of dependent tasks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Chain of dependent task: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Tas1🡺Task2🡺Task3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 this chain, Task2 can only start once Tasks is finished, and Task3 can only start after Task2 is completed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Multiple independent chains: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Chain 1: TaskA1🡺TaskA2🡺TaskA3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Chain 2: TaskB1🡺TaskB2🡺TaskB3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Here, Chain 1 and Chain 2 can run concurrently because the do not share any dependencies</a:t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"/>
          <p:cNvSpPr txBox="1"/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Contd…</a:t>
            </a:r>
            <a:endParaRPr/>
          </a:p>
        </p:txBody>
      </p:sp>
      <p:sp>
        <p:nvSpPr>
          <p:cNvPr id="122" name="Google Shape;122;p12"/>
          <p:cNvSpPr txBox="1"/>
          <p:nvPr>
            <p:ph idx="1" type="body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Parallel Programming</a:t>
            </a:r>
            <a:endParaRPr/>
          </a:p>
          <a:p>
            <a:pPr indent="-342900" lvl="1" marL="9144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Involves writing code that enables multiple tasks to be executed concurrently, often by splitting a problem into smaller tasks</a:t>
            </a:r>
            <a:endParaRPr/>
          </a:p>
          <a:p>
            <a:pPr indent="-342900" lvl="1" marL="9144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Takes advantage of multi-core or distributed systems to improve performance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23" name="Google Shape;12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3596412"/>
            <a:ext cx="4262477" cy="3072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Parallelism Overview</a:t>
            </a:r>
            <a:endParaRPr/>
          </a:p>
        </p:txBody>
      </p:sp>
      <p:sp>
        <p:nvSpPr>
          <p:cNvPr id="129" name="Google Shape;129;p13"/>
          <p:cNvSpPr txBox="1"/>
          <p:nvPr>
            <p:ph idx="1" type="body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Parallelism is essential in modern computing</a:t>
            </a:r>
            <a:endParaRPr/>
          </a:p>
          <a:p>
            <a:pPr indent="-342900" lvl="0" marL="4572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It improves performance by allowing multiple tasks to run at the same time</a:t>
            </a:r>
            <a:endParaRPr/>
          </a:p>
          <a:p>
            <a:pPr indent="-342900" lvl="0" marL="4572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Types or Parallelism:</a:t>
            </a:r>
            <a:endParaRPr/>
          </a:p>
          <a:p>
            <a:pPr indent="-342900" lvl="1" marL="9144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Task Parallelism</a:t>
            </a:r>
            <a:endParaRPr/>
          </a:p>
          <a:p>
            <a:pPr indent="-342900" lvl="2" marL="13716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Multiple independent tasks or function running at once</a:t>
            </a:r>
            <a:endParaRPr/>
          </a:p>
          <a:p>
            <a:pPr indent="-342900" lvl="2" marL="13716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Tasks or function are distributed across different CPU cores</a:t>
            </a:r>
            <a:endParaRPr/>
          </a:p>
          <a:p>
            <a:pPr indent="-342900" lvl="2" marL="13716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Eg: Database Server(</a:t>
            </a:r>
            <a:r>
              <a:rPr i="1" lang="en-US" sz="2100">
                <a:latin typeface="Times New Roman"/>
                <a:ea typeface="Times New Roman"/>
                <a:cs typeface="Times New Roman"/>
                <a:sym typeface="Times New Roman"/>
              </a:rPr>
              <a:t>Multiple user can query and update data simultaneously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), Web Browsers(</a:t>
            </a:r>
            <a:r>
              <a:rPr i="1" lang="en-US" sz="2100">
                <a:latin typeface="Times New Roman"/>
                <a:ea typeface="Times New Roman"/>
                <a:cs typeface="Times New Roman"/>
                <a:sym typeface="Times New Roman"/>
              </a:rPr>
              <a:t>Manage different browser tabs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), Operating Systems(</a:t>
            </a:r>
            <a:r>
              <a:rPr i="1" lang="en-US" sz="2100">
                <a:latin typeface="Times New Roman"/>
                <a:ea typeface="Times New Roman"/>
                <a:cs typeface="Times New Roman"/>
                <a:sym typeface="Times New Roman"/>
              </a:rPr>
              <a:t>Run multiple programs at the same time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indent="-342900" lvl="1" marL="9144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b="1" lang="en-US" sz="2100">
                <a:latin typeface="Times New Roman"/>
                <a:ea typeface="Times New Roman"/>
                <a:cs typeface="Times New Roman"/>
                <a:sym typeface="Times New Roman"/>
              </a:rPr>
              <a:t>Data Parallelism</a:t>
            </a:r>
            <a:endParaRPr/>
          </a:p>
          <a:p>
            <a:pPr indent="-342900" lvl="2" marL="13716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Many pieces of data processed simultaneously</a:t>
            </a:r>
            <a:endParaRPr/>
          </a:p>
          <a:p>
            <a:pPr indent="-342900" lvl="2" marL="13716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Data is divided among multiple cores for faster processing</a:t>
            </a:r>
            <a:endParaRPr/>
          </a:p>
          <a:p>
            <a:pPr indent="-342900" lvl="2" marL="13716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Eg: Image Processing: Each pixel can be processed independently with the same filter operation such as blur, sharpen, or edge detection</a:t>
            </a:r>
            <a:endParaRPr/>
          </a:p>
          <a:p>
            <a:pPr indent="-228600" lvl="0" marL="4572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2493599" y="188639"/>
            <a:ext cx="5667175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Classification of Computing System: Flynn's Taxonomy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Computing systems can be classified into four major categories based on the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number of instruction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b="1" lang="en-US" sz="2200">
                <a:latin typeface="Times New Roman"/>
                <a:ea typeface="Times New Roman"/>
                <a:cs typeface="Times New Roman"/>
                <a:sym typeface="Times New Roman"/>
              </a:rPr>
              <a:t>data streams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they can process simultaneously</a:t>
            </a:r>
            <a:endParaRPr/>
          </a:p>
          <a:p>
            <a:pPr indent="-342900" lvl="0" marL="4572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Instruction Stream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: A sequence of instructions executed by a processor</a:t>
            </a:r>
            <a:endParaRPr/>
          </a:p>
          <a:p>
            <a:pPr indent="-342900" lvl="0" marL="4572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i="1" lang="en-US" sz="2200">
                <a:latin typeface="Times New Roman"/>
                <a:ea typeface="Times New Roman"/>
                <a:cs typeface="Times New Roman"/>
                <a:sym typeface="Times New Roman"/>
              </a:rPr>
              <a:t>Data Stream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: A sequence of data required by an instruction stream</a:t>
            </a:r>
            <a:endParaRPr/>
          </a:p>
          <a:p>
            <a:pPr indent="-228600" lvl="0" marL="4572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6" name="Google Shape;13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7691" y="3009716"/>
            <a:ext cx="6361469" cy="3423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Contd…</a:t>
            </a:r>
            <a:endParaRPr/>
          </a:p>
        </p:txBody>
      </p:sp>
      <p:sp>
        <p:nvSpPr>
          <p:cNvPr id="142" name="Google Shape;142;p15"/>
          <p:cNvSpPr txBox="1"/>
          <p:nvPr>
            <p:ph idx="1" type="body"/>
          </p:nvPr>
        </p:nvSpPr>
        <p:spPr>
          <a:xfrm>
            <a:off x="179512" y="974078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SISD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Traditional serial architecture with a single core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At any time, only one instruction stream is executed, and operations are performed on one data stream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Examples: most PCs, single CPU workstations and mainframes</a:t>
            </a:r>
            <a:endParaRPr/>
          </a:p>
        </p:txBody>
      </p:sp>
      <p:pic>
        <p:nvPicPr>
          <p:cNvPr id="143" name="Google Shape;14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4606" y="3581053"/>
            <a:ext cx="5211098" cy="300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Contd…</a:t>
            </a:r>
            <a:endParaRPr/>
          </a:p>
        </p:txBody>
      </p:sp>
      <p:sp>
        <p:nvSpPr>
          <p:cNvPr id="149" name="Google Shape;149;p16"/>
          <p:cNvSpPr txBox="1"/>
          <p:nvPr>
            <p:ph idx="1" type="body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SIMD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type of parallel computer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Best suited for specialized problems such as image processing and vector computation</a:t>
            </a:r>
            <a:endParaRPr/>
          </a:p>
          <a:p>
            <a:pPr indent="0" lvl="1" marL="5715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0" name="Google Shape;15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5211" y="2765110"/>
            <a:ext cx="4749215" cy="3655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"/>
          <p:cNvSpPr txBox="1"/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Contd…</a:t>
            </a:r>
            <a:endParaRPr/>
          </a:p>
        </p:txBody>
      </p:sp>
      <p:sp>
        <p:nvSpPr>
          <p:cNvPr id="156" name="Google Shape;156;p17"/>
          <p:cNvSpPr txBox="1"/>
          <p:nvPr>
            <p:ph idx="1" type="body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MISD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Uncommon architecture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Each core operates on the same data stream but uses different instruction stream</a:t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7" name="Google Shape;1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1958" y="2773194"/>
            <a:ext cx="3145282" cy="2134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6209" y="4908137"/>
            <a:ext cx="5126275" cy="1858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Contd…</a:t>
            </a:r>
            <a:endParaRPr/>
          </a:p>
        </p:txBody>
      </p:sp>
      <p:sp>
        <p:nvSpPr>
          <p:cNvPr id="164" name="Google Shape;164;p18"/>
          <p:cNvSpPr txBox="1"/>
          <p:nvPr>
            <p:ph idx="1" type="body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MIMD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Advanced parallel architecture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Multiple cores operate on multiple data streams, each executing independent instructions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Multi-core processors and distributed computing systems</a:t>
            </a:r>
            <a:endParaRPr/>
          </a:p>
        </p:txBody>
      </p:sp>
      <p:pic>
        <p:nvPicPr>
          <p:cNvPr id="165" name="Google Shape;16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3329" y="3211056"/>
            <a:ext cx="3921717" cy="3179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Enhancing Computational Efficiency: Key Objectives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At the architectural level, significant advancements have been made to accomplish the following goals:</a:t>
            </a:r>
            <a:endParaRPr/>
          </a:p>
          <a:p>
            <a:pPr indent="-342900" lvl="1" marL="9144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Reduce Latency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: Minimizing the time taken for an operation to start and complete</a:t>
            </a:r>
            <a:endParaRPr/>
          </a:p>
          <a:p>
            <a:pPr indent="-342900" lvl="1" marL="9144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Enhance Bandwidth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: Increasing the volume of data that can be processed per unit of time</a:t>
            </a:r>
            <a:endParaRPr/>
          </a:p>
          <a:p>
            <a:pPr indent="-342900" lvl="1" marL="9144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Increase Throughput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: Maximizing the number of operations executed within a given timeframe</a:t>
            </a:r>
            <a:endParaRPr/>
          </a:p>
        </p:txBody>
      </p:sp>
      <p:pic>
        <p:nvPicPr>
          <p:cNvPr descr="Latency, Bandwidth, Throughput and Response Time | by Sandeep Tiwari |  Medium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0433" y="4259058"/>
            <a:ext cx="3796173" cy="2330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2483766" y="108155"/>
            <a:ext cx="6581575" cy="707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Classification of Computer Architectures by Memory Organization</a:t>
            </a:r>
            <a:endParaRPr/>
          </a:p>
        </p:txBody>
      </p:sp>
      <p:sp>
        <p:nvSpPr>
          <p:cNvPr id="178" name="Google Shape;178;p20"/>
          <p:cNvSpPr txBox="1"/>
          <p:nvPr>
            <p:ph idx="1" type="body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Multi-node with distributed memory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Many processors, each with local memory, communicate over a network</a:t>
            </a:r>
            <a:endParaRPr/>
          </a:p>
          <a:p>
            <a: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Suitable for clusters</a:t>
            </a:r>
            <a:endParaRPr/>
          </a:p>
          <a:p>
            <a:pPr indent="0" lvl="1" marL="5715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9" name="Google Shape;17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0361" y="2839064"/>
            <a:ext cx="5967187" cy="329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/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Contd…</a:t>
            </a:r>
            <a:endParaRPr/>
          </a:p>
        </p:txBody>
      </p:sp>
      <p:sp>
        <p:nvSpPr>
          <p:cNvPr id="185" name="Google Shape;185;p21"/>
          <p:cNvSpPr txBox="1"/>
          <p:nvPr>
            <p:ph idx="1" type="body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Multiprocessor with Shared Memory</a:t>
            </a:r>
            <a:endParaRPr/>
          </a:p>
          <a:p>
            <a:pPr indent="-342900" lvl="1" marL="9144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Multiple processors sharing a common memory space, enabling direct data access and faster inter-processor communication</a:t>
            </a:r>
            <a:endParaRPr/>
          </a:p>
        </p:txBody>
      </p:sp>
      <p:pic>
        <p:nvPicPr>
          <p:cNvPr id="186" name="Google Shape;1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7812" y="2657297"/>
            <a:ext cx="6427155" cy="3599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/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Heterogeneous Computing</a:t>
            </a:r>
            <a:endParaRPr/>
          </a:p>
        </p:txBody>
      </p:sp>
      <p:sp>
        <p:nvSpPr>
          <p:cNvPr id="192" name="Google Shape;192;p22"/>
          <p:cNvSpPr txBox="1"/>
          <p:nvPr>
            <p:ph idx="1" type="body"/>
          </p:nvPr>
        </p:nvSpPr>
        <p:spPr>
          <a:xfrm>
            <a:off x="179512" y="1052736"/>
            <a:ext cx="8784976" cy="561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Homogeneous Computing</a:t>
            </a:r>
            <a:endParaRPr/>
          </a:p>
          <a:p>
            <a:pPr indent="-342900" lvl="1" marL="9144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Involves one or more processors of the same architecture to execute applications</a:t>
            </a:r>
            <a:endParaRPr/>
          </a:p>
          <a:p>
            <a:pPr indent="-342900" lvl="1" marL="9144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In these systems, all processing units are identical and perform the same tasks in a similar manner</a:t>
            </a:r>
            <a:endParaRPr/>
          </a:p>
          <a:p>
            <a:pPr indent="-342900" lvl="1" marL="9144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Developers can write programs that assume all processors behave identically, leading to simpler software design</a:t>
            </a:r>
            <a:endParaRPr/>
          </a:p>
          <a:p>
            <a:pPr indent="-342900" lvl="0" marL="4572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Heterogeneous Computing</a:t>
            </a:r>
            <a:endParaRPr/>
          </a:p>
          <a:p>
            <a:pPr indent="-342900" lvl="1" marL="9144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Utilizes a variety of processor architectures to execute applications, allowing tasks to be assigned to the most suitable architecture for performance improvements</a:t>
            </a:r>
            <a:endParaRPr/>
          </a:p>
          <a:p>
            <a:pPr indent="-342900" lvl="1" marL="9144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Systems can include CPUs, GPUs, FPGAs, and other specialized processors, each optimized for specific tasks</a:t>
            </a:r>
            <a:endParaRPr/>
          </a:p>
          <a:p>
            <a:pPr indent="-342900" lvl="1" marL="91440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Programming for heterogeneous systems can be more complex as developers must manage different architectures and ensure efficient task distribution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/>
          <p:nvPr>
            <p:ph type="title"/>
          </p:nvPr>
        </p:nvSpPr>
        <p:spPr>
          <a:xfrm>
            <a:off x="2483767" y="188639"/>
            <a:ext cx="5297827" cy="576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Heterogeneous Architecture  </a:t>
            </a:r>
            <a:endParaRPr/>
          </a:p>
        </p:txBody>
      </p:sp>
      <p:pic>
        <p:nvPicPr>
          <p:cNvPr id="198" name="Google Shape;19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306" y="1436578"/>
            <a:ext cx="8299387" cy="2555319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3"/>
          <p:cNvSpPr txBox="1"/>
          <p:nvPr/>
        </p:nvSpPr>
        <p:spPr>
          <a:xfrm>
            <a:off x="1032387" y="4118325"/>
            <a:ext cx="6401111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Terminology: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Host: CPU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Device: GPU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PCIe: Peripheral Component Interconnect Express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/>
          <p:nvPr>
            <p:ph idx="1" type="body"/>
          </p:nvPr>
        </p:nvSpPr>
        <p:spPr>
          <a:xfrm>
            <a:off x="2088717" y="3212691"/>
            <a:ext cx="5683045" cy="9168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End of Lecture 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niversity Standard">
  <a:themeElements>
    <a:clrScheme name="uow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Sujan</dc:creator>
</cp:coreProperties>
</file>