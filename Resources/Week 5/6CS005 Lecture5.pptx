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12192000"/>
  <p:notesSz cx="6797675" cy="9926625"/>
  <p:embeddedFontLst>
    <p:embeddedFont>
      <p:font typeface="Overlock"/>
      <p:regular r:id="rId57"/>
      <p:bold r:id="rId58"/>
      <p:italic r:id="rId59"/>
      <p:boldItalic r:id="rId60"/>
    </p:embeddedFont>
    <p:embeddedFont>
      <p:font typeface="Helvetica Neue"/>
      <p:regular r:id="rId61"/>
      <p:bold r:id="rId62"/>
      <p:italic r:id="rId63"/>
      <p:boldItalic r:id="rId64"/>
    </p:embeddedFont>
    <p:embeddedFont>
      <p:font typeface="Arial Black"/>
      <p:regular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  <p:ext uri="GoogleSlidesCustomDataVersion2">
      <go:slidesCustomData xmlns:go="http://customooxmlschemas.google.com/" r:id="rId66" roundtripDataSignature="AMtx7mjtD+CI7rouMImc6wyrHZhWT7Aj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098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elveticaNeue-bold.fntdata"/><Relationship Id="rId61" Type="http://schemas.openxmlformats.org/officeDocument/2006/relationships/font" Target="fonts/HelveticaNeue-regular.fntdata"/><Relationship Id="rId20" Type="http://schemas.openxmlformats.org/officeDocument/2006/relationships/slide" Target="slides/slide15.xml"/><Relationship Id="rId64" Type="http://schemas.openxmlformats.org/officeDocument/2006/relationships/font" Target="fonts/HelveticaNeue-boldItalic.fntdata"/><Relationship Id="rId63" Type="http://schemas.openxmlformats.org/officeDocument/2006/relationships/font" Target="fonts/HelveticaNeue-italic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ArialBlack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verlock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Overlock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Overlock-italic.fntdata"/><Relationship Id="rId14" Type="http://schemas.openxmlformats.org/officeDocument/2006/relationships/slide" Target="slides/slide9.xml"/><Relationship Id="rId58" Type="http://schemas.openxmlformats.org/officeDocument/2006/relationships/font" Target="fonts/Overloc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3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3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3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4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4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4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4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4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4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4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4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4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4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5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5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3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3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  <a:defRPr>
                <a:solidFill>
                  <a:srgbClr val="FFC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5"/>
          <p:cNvSpPr txBox="1"/>
          <p:nvPr>
            <p:ph type="title"/>
          </p:nvPr>
        </p:nvSpPr>
        <p:spPr>
          <a:xfrm>
            <a:off x="838200" y="460126"/>
            <a:ext cx="10515600" cy="6371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7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5"/>
          <p:cNvSpPr txBox="1"/>
          <p:nvPr>
            <p:ph idx="1" type="body"/>
          </p:nvPr>
        </p:nvSpPr>
        <p:spPr>
          <a:xfrm>
            <a:off x="838200" y="1644163"/>
            <a:ext cx="10515600" cy="453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3200"/>
              <a:buFont typeface="Arial"/>
              <a:buChar char="•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800"/>
              <a:buFont typeface="Arial"/>
              <a:buChar char="–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400"/>
              <a:buFont typeface="Arial"/>
              <a:buChar char="•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Arial"/>
              <a:buChar char="–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Arial"/>
              <a:buChar char="»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1" type="ftr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5"/>
          <p:cNvSpPr txBox="1"/>
          <p:nvPr>
            <p:ph idx="12" type="sldNum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55"/>
          <p:cNvSpPr txBox="1"/>
          <p:nvPr>
            <p:ph idx="2" type="subTitle"/>
          </p:nvPr>
        </p:nvSpPr>
        <p:spPr>
          <a:xfrm>
            <a:off x="838200" y="1107373"/>
            <a:ext cx="10515600" cy="369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Helvetica Neue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9pPr>
          </a:lstStyle>
          <a:p/>
        </p:txBody>
      </p:sp>
      <p:pic>
        <p:nvPicPr>
          <p:cNvPr descr="Level Access Logo" id="24" name="Google Shape;2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05537" y="6302169"/>
            <a:ext cx="1048265" cy="41930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5"/>
          <p:cNvSpPr/>
          <p:nvPr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/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8"/>
          <p:cNvSpPr txBox="1"/>
          <p:nvPr>
            <p:ph type="title"/>
          </p:nvPr>
        </p:nvSpPr>
        <p:spPr>
          <a:xfrm>
            <a:off x="431817" y="1940981"/>
            <a:ext cx="11233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8"/>
          <p:cNvSpPr txBox="1"/>
          <p:nvPr>
            <p:ph idx="1" type="body"/>
          </p:nvPr>
        </p:nvSpPr>
        <p:spPr>
          <a:xfrm>
            <a:off x="431800" y="2852248"/>
            <a:ext cx="5513917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3" name="Google Shape;33;p58"/>
          <p:cNvSpPr txBox="1"/>
          <p:nvPr>
            <p:ph idx="2" type="body"/>
          </p:nvPr>
        </p:nvSpPr>
        <p:spPr>
          <a:xfrm>
            <a:off x="6148934" y="2852248"/>
            <a:ext cx="5516033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9"/>
          <p:cNvSpPr txBox="1"/>
          <p:nvPr>
            <p:ph type="title"/>
          </p:nvPr>
        </p:nvSpPr>
        <p:spPr>
          <a:xfrm>
            <a:off x="609600" y="151391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" type="body"/>
          </p:nvPr>
        </p:nvSpPr>
        <p:spPr>
          <a:xfrm>
            <a:off x="609600" y="2774390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7" name="Google Shape;37;p59"/>
          <p:cNvSpPr txBox="1"/>
          <p:nvPr>
            <p:ph idx="2" type="body"/>
          </p:nvPr>
        </p:nvSpPr>
        <p:spPr>
          <a:xfrm>
            <a:off x="609600" y="3414149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38" name="Google Shape;38;p59"/>
          <p:cNvSpPr txBox="1"/>
          <p:nvPr>
            <p:ph idx="3" type="body"/>
          </p:nvPr>
        </p:nvSpPr>
        <p:spPr>
          <a:xfrm>
            <a:off x="6193378" y="2774390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9" name="Google Shape;39;p59"/>
          <p:cNvSpPr txBox="1"/>
          <p:nvPr>
            <p:ph idx="4" type="body"/>
          </p:nvPr>
        </p:nvSpPr>
        <p:spPr>
          <a:xfrm>
            <a:off x="6193378" y="3414149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0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"/>
          <p:cNvSpPr txBox="1"/>
          <p:nvPr>
            <p:ph type="title"/>
          </p:nvPr>
        </p:nvSpPr>
        <p:spPr>
          <a:xfrm>
            <a:off x="609617" y="1594874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" type="body"/>
          </p:nvPr>
        </p:nvSpPr>
        <p:spPr>
          <a:xfrm>
            <a:off x="4766733" y="159488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45" name="Google Shape;45;p61"/>
          <p:cNvSpPr txBox="1"/>
          <p:nvPr>
            <p:ph idx="2" type="body"/>
          </p:nvPr>
        </p:nvSpPr>
        <p:spPr>
          <a:xfrm>
            <a:off x="609617" y="275693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2"/>
          <p:cNvSpPr txBox="1"/>
          <p:nvPr>
            <p:ph type="title"/>
          </p:nvPr>
        </p:nvSpPr>
        <p:spPr>
          <a:xfrm>
            <a:off x="2389717" y="480060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/>
          <p:nvPr>
            <p:ph idx="2" type="pic"/>
          </p:nvPr>
        </p:nvSpPr>
        <p:spPr>
          <a:xfrm>
            <a:off x="2389717" y="1604803"/>
            <a:ext cx="7315200" cy="3122777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2"/>
          <p:cNvSpPr txBox="1"/>
          <p:nvPr>
            <p:ph idx="1" type="body"/>
          </p:nvPr>
        </p:nvSpPr>
        <p:spPr>
          <a:xfrm>
            <a:off x="2389717" y="5367346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" type="body"/>
          </p:nvPr>
        </p:nvSpPr>
        <p:spPr>
          <a:xfrm rot="5400000">
            <a:off x="3528113" y="-1467494"/>
            <a:ext cx="5040560" cy="11233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4"/>
          <p:cNvSpPr txBox="1"/>
          <p:nvPr>
            <p:ph type="title"/>
          </p:nvPr>
        </p:nvSpPr>
        <p:spPr>
          <a:xfrm rot="5400000">
            <a:off x="7530323" y="2318547"/>
            <a:ext cx="5462588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4"/>
          <p:cNvSpPr txBox="1"/>
          <p:nvPr>
            <p:ph idx="1" type="body"/>
          </p:nvPr>
        </p:nvSpPr>
        <p:spPr>
          <a:xfrm rot="5400000">
            <a:off x="1812131" y="-389728"/>
            <a:ext cx="5462588" cy="822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6CS005 High Performance Computing</a:t>
            </a:r>
            <a:endParaRPr sz="4400"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</a:pPr>
            <a:r>
              <a:rPr lang="en-US"/>
              <a:t>Lecture 5 Parallel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Matrix-Vector Multiplication</a:t>
            </a:r>
            <a:endParaRPr/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649" y="1388968"/>
            <a:ext cx="11650701" cy="369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301" y="5083918"/>
            <a:ext cx="1883827" cy="12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3287688" y="184236"/>
            <a:ext cx="928903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Pseudocode for serial  matrix-vector multiplication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/>
              <a:t>If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A=(a</a:t>
            </a:r>
            <a:r>
              <a:rPr b="1" baseline="-25000" lang="en-US" sz="2800">
                <a:latin typeface="Overlock"/>
                <a:ea typeface="Overlock"/>
                <a:cs typeface="Overlock"/>
                <a:sym typeface="Overlock"/>
              </a:rPr>
              <a:t>ij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) </a:t>
            </a:r>
            <a:r>
              <a:rPr lang="en-US" sz="2800"/>
              <a:t>is an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m×n</a:t>
            </a:r>
            <a:r>
              <a:rPr lang="en-US" sz="2800"/>
              <a:t> matrix and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x</a:t>
            </a:r>
            <a:r>
              <a:rPr lang="en-US" sz="280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800"/>
              <a:t>is a vector with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n</a:t>
            </a:r>
            <a:r>
              <a:rPr lang="en-US" sz="2800"/>
              <a:t> components, then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y=A*x</a:t>
            </a:r>
            <a:r>
              <a:rPr lang="en-US" sz="280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800"/>
              <a:t>is a vector with </a:t>
            </a:r>
            <a:r>
              <a:rPr lang="en-US" sz="2800">
                <a:latin typeface="Overlock"/>
                <a:ea typeface="Overlock"/>
                <a:cs typeface="Overlock"/>
                <a:sym typeface="Overlock"/>
              </a:rPr>
              <a:t>m</a:t>
            </a:r>
            <a:r>
              <a:rPr lang="en-US" sz="2800"/>
              <a:t> components, and we can find the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i</a:t>
            </a:r>
            <a:r>
              <a:rPr b="1" baseline="30000" lang="en-US" sz="2800">
                <a:latin typeface="Overlock"/>
                <a:ea typeface="Overlock"/>
                <a:cs typeface="Overlock"/>
                <a:sym typeface="Overlock"/>
              </a:rPr>
              <a:t>th</a:t>
            </a:r>
            <a:r>
              <a:rPr lang="en-US" sz="2800"/>
              <a:t> component of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y</a:t>
            </a:r>
            <a:r>
              <a:rPr lang="en-US" sz="2800"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sz="2800"/>
              <a:t>by forming the dot product of the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i</a:t>
            </a:r>
            <a:r>
              <a:rPr b="1" baseline="30000" lang="en-US" sz="2800">
                <a:latin typeface="Overlock"/>
                <a:ea typeface="Overlock"/>
                <a:cs typeface="Overlock"/>
                <a:sym typeface="Overlock"/>
              </a:rPr>
              <a:t>th</a:t>
            </a:r>
            <a:r>
              <a:rPr lang="en-US" sz="2800"/>
              <a:t> row of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A</a:t>
            </a:r>
            <a:r>
              <a:rPr lang="en-US" sz="2800"/>
              <a:t> with </a:t>
            </a:r>
            <a:r>
              <a:rPr b="1" lang="en-US" sz="2800">
                <a:latin typeface="Overlock"/>
                <a:ea typeface="Overlock"/>
                <a:cs typeface="Overlock"/>
                <a:sym typeface="Overlock"/>
              </a:rPr>
              <a:t>x</a:t>
            </a:r>
            <a:r>
              <a:rPr lang="en-US" sz="2800"/>
              <a:t>:</a:t>
            </a:r>
            <a:endParaRPr sz="2800"/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36" y="2852936"/>
            <a:ext cx="10853109" cy="302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3311690" y="188639"/>
            <a:ext cx="825691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Parallelization of the matrix-vector multiplication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Need parallelize this by dividing the work among the threads.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One possibility is to divide the iterations of the outer loop among the threads.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If we do this, each thread will compute some of the components of 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551384" y="3284984"/>
            <a:ext cx="10853109" cy="3020692"/>
            <a:chOff x="669446" y="2636912"/>
            <a:chExt cx="10853109" cy="3020692"/>
          </a:xfrm>
        </p:grpSpPr>
        <p:pic>
          <p:nvPicPr>
            <p:cNvPr id="83" name="Google Shape;8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9446" y="2636912"/>
              <a:ext cx="10853109" cy="30206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4"/>
            <p:cNvSpPr/>
            <p:nvPr/>
          </p:nvSpPr>
          <p:spPr>
            <a:xfrm>
              <a:off x="983432" y="2996952"/>
              <a:ext cx="4464496" cy="432048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Parallelising Processing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For example, suppose that </a:t>
            </a:r>
            <a:r>
              <a:rPr b="1" i="1" lang="en-US" sz="2800">
                <a:latin typeface="Consolas"/>
                <a:ea typeface="Consolas"/>
                <a:cs typeface="Consolas"/>
                <a:sym typeface="Consolas"/>
              </a:rPr>
              <a:t>m=6</a:t>
            </a:r>
            <a:r>
              <a:rPr i="1" lang="en-US" sz="2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/>
              <a:t>and the number of threads, </a:t>
            </a:r>
            <a:r>
              <a:rPr b="1" lang="en-US" sz="2800">
                <a:latin typeface="Consolas"/>
                <a:ea typeface="Consolas"/>
                <a:cs typeface="Consolas"/>
                <a:sym typeface="Consolas"/>
              </a:rPr>
              <a:t>thread_count or n</a:t>
            </a:r>
            <a:r>
              <a:rPr lang="en-US" sz="2800"/>
              <a:t>, is three. Then the computation could be divided among the threads as follows:</a:t>
            </a:r>
            <a:endParaRPr sz="2800"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504" y="2636911"/>
            <a:ext cx="8064896" cy="336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97" name="Google Shape;97;p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To compute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y[0]</a:t>
            </a:r>
            <a:r>
              <a:rPr lang="en-US"/>
              <a:t>, thread 0 will need to execute the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Therefore thread 0 will need to access every element of row 0 of A and every element of x.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More generally, the thread that has been assigned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y[i] </a:t>
            </a:r>
            <a:r>
              <a:rPr lang="en-US"/>
              <a:t>will need to execute the code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575" y="1556799"/>
            <a:ext cx="4104450" cy="11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576" y="4941168"/>
            <a:ext cx="4608512" cy="149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Parallelising Processing</a:t>
            </a:r>
            <a:endParaRPr/>
          </a:p>
        </p:txBody>
      </p:sp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Thus for </a:t>
            </a:r>
            <a:r>
              <a:rPr i="1" lang="en-US"/>
              <a:t>n</a:t>
            </a:r>
            <a:r>
              <a:rPr lang="en-US"/>
              <a:t> threads, and </a:t>
            </a:r>
            <a:r>
              <a:rPr i="1" lang="en-US"/>
              <a:t>m</a:t>
            </a:r>
            <a:r>
              <a:rPr lang="en-US"/>
              <a:t> rows: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–"/>
            </a:pPr>
            <a:r>
              <a:rPr lang="en-US"/>
              <a:t>Thread 0 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start row = 0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end row = (m/n) -1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–"/>
            </a:pPr>
            <a:r>
              <a:rPr lang="en-US"/>
              <a:t>Thread 1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start row = (m/n)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end row = (m/n) + (m/n) -1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–"/>
            </a:pPr>
            <a:r>
              <a:rPr lang="en-US"/>
              <a:t>Thread 2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start row = (m/n) + (m/n)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end row = (m/n) + (m/n) + (m/n) -1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–"/>
            </a:pPr>
            <a:r>
              <a:rPr lang="en-US"/>
              <a:t>Thread 3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start row = (m/n) + (m/n) + (m/n)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end row = (m/n) + (m/n) + (m/n) + (m/n) -1</a:t>
            </a:r>
            <a:br>
              <a:rPr lang="en-US"/>
            </a:br>
            <a:r>
              <a:rPr lang="en-US"/>
              <a:t>…</a:t>
            </a:r>
            <a:br>
              <a:rPr lang="en-US"/>
            </a:br>
            <a:r>
              <a:rPr lang="en-US"/>
              <a:t>… 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–"/>
            </a:pPr>
            <a:r>
              <a:rPr lang="en-US"/>
              <a:t>Thread k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start row = k * (m/n)</a:t>
            </a:r>
            <a:endParaRPr/>
          </a:p>
          <a:p>
            <a:pPr indent="-228587" lvl="2" marL="1142944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end row = ((k + 1) * (m/n)) -1   </a:t>
            </a:r>
            <a:r>
              <a:rPr lang="en-US" sz="2000">
                <a:solidFill>
                  <a:srgbClr val="0070C0"/>
                </a:solidFill>
              </a:rPr>
              <a:t>/* the very last end row need to be adjusted if m is not a multiple of n */</a:t>
            </a:r>
            <a:endParaRPr>
              <a:solidFill>
                <a:srgbClr val="0070C0"/>
              </a:solidFill>
            </a:endParaRPr>
          </a:p>
          <a:p>
            <a:pPr indent="-200642" lvl="0" marL="342884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Pthread Function for matrix-vector multiplication</a:t>
            </a:r>
            <a:endParaRPr/>
          </a:p>
        </p:txBody>
      </p:sp>
      <p:pic>
        <p:nvPicPr>
          <p:cNvPr descr="A computer screen shot of a code&#10;&#10;Description automatically generated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295" y="1052736"/>
            <a:ext cx="10597409" cy="56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4x2 and 2x3 Matrix-Matrix Multiplication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392" y="1899743"/>
            <a:ext cx="6192688" cy="194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3161" y="4149080"/>
            <a:ext cx="3752759" cy="95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1127" y="1899743"/>
            <a:ext cx="4877481" cy="4286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Matrix-Matrix Multiplication</a:t>
            </a:r>
            <a:endParaRPr/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519" y="1340768"/>
            <a:ext cx="10116962" cy="1752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256" y="3360918"/>
            <a:ext cx="9221487" cy="172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5680" y="5352489"/>
            <a:ext cx="4934639" cy="80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n-US" sz="2000"/>
              <a:t>Pseudocode for General Matrix-Matrix Multiplication of A x B = C</a:t>
            </a:r>
            <a:endParaRPr/>
          </a:p>
        </p:txBody>
      </p:sp>
      <p:pic>
        <p:nvPicPr>
          <p:cNvPr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678" y="1555677"/>
            <a:ext cx="8916644" cy="4610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Race Condition</a:t>
            </a:r>
            <a:endParaRPr/>
          </a:p>
        </p:txBody>
      </p:sp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•"/>
            </a:pPr>
            <a:r>
              <a:rPr lang="en-US" sz="3600"/>
              <a:t>A race condition arises in software when a computer program, to operate properly, depends on the sequence or timing of the program's processes or threads. </a:t>
            </a:r>
            <a:endParaRPr/>
          </a:p>
          <a:p>
            <a:pPr indent="-114282" lvl="0" marL="342884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</a:pPr>
            <a:r>
              <a:t/>
            </a:r>
            <a:endParaRPr sz="3600"/>
          </a:p>
          <a:p>
            <a:pPr indent="-342884" lvl="0" marL="342884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•"/>
            </a:pPr>
            <a:r>
              <a:rPr lang="en-US" sz="3600"/>
              <a:t>Critical race conditions often happen when the processes or threads depend on some shared state.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Race Condtion</a:t>
            </a:r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49" y="1063690"/>
            <a:ext cx="5658640" cy="442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424" y="1268760"/>
            <a:ext cx="5572903" cy="240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176" y="3936806"/>
            <a:ext cx="2809179" cy="250003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/>
          <p:nvPr/>
        </p:nvSpPr>
        <p:spPr>
          <a:xfrm>
            <a:off x="5087888" y="4437112"/>
            <a:ext cx="1838965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Sections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13"/>
          <p:cNvCxnSpPr/>
          <p:nvPr/>
        </p:nvCxnSpPr>
        <p:spPr>
          <a:xfrm rot="10800000">
            <a:off x="4295800" y="4005064"/>
            <a:ext cx="792088" cy="43204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13"/>
          <p:cNvCxnSpPr/>
          <p:nvPr/>
        </p:nvCxnSpPr>
        <p:spPr>
          <a:xfrm flipH="1">
            <a:off x="4295800" y="4806444"/>
            <a:ext cx="792088" cy="35074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Busy Wait</a:t>
            </a:r>
            <a:endParaRPr/>
          </a:p>
        </p:txBody>
      </p:sp>
      <p:pic>
        <p:nvPicPr>
          <p:cNvPr id="157" name="Google Shape;15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7762" y="1340768"/>
            <a:ext cx="5358560" cy="404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309" y="1349247"/>
            <a:ext cx="5672930" cy="422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 txBox="1"/>
          <p:nvPr/>
        </p:nvSpPr>
        <p:spPr>
          <a:xfrm>
            <a:off x="4281862" y="3717032"/>
            <a:ext cx="1214820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Busy Wait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4"/>
          <p:cNvCxnSpPr/>
          <p:nvPr/>
        </p:nvCxnSpPr>
        <p:spPr>
          <a:xfrm flipH="1">
            <a:off x="2495600" y="4077072"/>
            <a:ext cx="1800200" cy="36004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14"/>
          <p:cNvCxnSpPr/>
          <p:nvPr/>
        </p:nvCxnSpPr>
        <p:spPr>
          <a:xfrm flipH="1" rot="10800000">
            <a:off x="5496682" y="2060848"/>
            <a:ext cx="1679438" cy="165618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Mutex</a:t>
            </a:r>
            <a:endParaRPr/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" y="1359550"/>
            <a:ext cx="5730087" cy="422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4871" y="1375520"/>
            <a:ext cx="5215665" cy="442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Issues</a:t>
            </a:r>
            <a:endParaRPr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Since a thread that is busy-waiting may </a:t>
            </a:r>
            <a:r>
              <a:rPr b="1" lang="en-US" sz="2800"/>
              <a:t>continually use the CPU</a:t>
            </a:r>
            <a:r>
              <a:rPr lang="en-US" sz="2800"/>
              <a:t>, busy-waiting is generally </a:t>
            </a:r>
            <a:r>
              <a:rPr b="1" lang="en-US" sz="2800"/>
              <a:t>not an ideal solution </a:t>
            </a:r>
            <a:r>
              <a:rPr lang="en-US" sz="2800"/>
              <a:t>to the problem of limiting access to a critical section.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Two better solutions are </a:t>
            </a:r>
            <a:r>
              <a:rPr b="1" lang="en-US" sz="2800"/>
              <a:t>mutexes</a:t>
            </a:r>
            <a:r>
              <a:rPr lang="en-US" sz="2800"/>
              <a:t> and </a:t>
            </a:r>
            <a:r>
              <a:rPr b="1" lang="en-US" sz="2800"/>
              <a:t>semaphores</a:t>
            </a:r>
            <a:r>
              <a:rPr lang="en-US" sz="2800"/>
              <a:t>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Mutex is an abbreviation of mutual exclusion, and a mutex is a special type of variable that, together with a couple of special functions, can be used to restrict access to a critical section to a single thread at a time.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Thus a mutex can be used to guarantee that one thread “excludes” all other threads while it executes the critical section.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/>
              <a:t>Hence, the mutex guarantees mutually exclusive access to the critical section.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table with numbers and text&#10;&#10;Description automatically generated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917" y="1644163"/>
            <a:ext cx="8204166" cy="453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838200" y="1107373"/>
            <a:ext cx="10515600" cy="369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Run-times(in seconds) of Pi programs using n=10</a:t>
            </a:r>
            <a:r>
              <a:rPr b="0" baseline="3000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term on system with two four-core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Barriers and Condition Variables</a:t>
            </a:r>
            <a:endParaRPr/>
          </a:p>
        </p:txBody>
      </p:sp>
      <p:sp>
        <p:nvSpPr>
          <p:cNvPr id="186" name="Google Shape;186;p18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Barriers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In shared-memory programming: synchronizing the threads by making sure that they all are at the same point in a program.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Such a point of synchronization is called a barrier, because no thread can proceed beyond the barrier until all the threads have reached it.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382" y="4037610"/>
            <a:ext cx="9217024" cy="2636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Busy-waiting and a Mutex</a:t>
            </a:r>
            <a:endParaRPr/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Implementing a barrier using busy-waiting and a mutex is straightforward: we use a shared counter protected by the mutex.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When the counter indicates that every thread has entered the critical section, threads can leave the busy-wait loop.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Busy-waiting and a Mutex</a:t>
            </a:r>
            <a:endParaRPr/>
          </a:p>
        </p:txBody>
      </p:sp>
      <p:pic>
        <p:nvPicPr>
          <p:cNvPr descr="Text, letter&#10;&#10;Description automatically generated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16" y="1241375"/>
            <a:ext cx="8775976" cy="56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3215680" y="214716"/>
            <a:ext cx="1063250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Problems in Busy-Waiting and Mutex Implementation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239349" y="1020048"/>
            <a:ext cx="11761307" cy="572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First barrier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Threads use a busy-wait loop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(while(counter &lt; thread_count)) </a:t>
            </a:r>
            <a:r>
              <a:rPr lang="en-US"/>
              <a:t>to wait for all threads to reach the barrier, </a:t>
            </a:r>
            <a:r>
              <a:rPr i="1" lang="en-US" u="sng"/>
              <a:t>threads consume CPU cycles while waiting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Second barrier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Reusing the same counter variable causes unsynchronized behavior.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At the start of the </a:t>
            </a:r>
            <a:r>
              <a:rPr b="1" lang="en-US"/>
              <a:t>second barrier</a:t>
            </a:r>
            <a:r>
              <a:rPr lang="en-US"/>
              <a:t>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 = thread_count </a:t>
            </a:r>
            <a:r>
              <a:rPr lang="en-US"/>
              <a:t>from the </a:t>
            </a:r>
            <a:r>
              <a:rPr b="1" lang="en-US"/>
              <a:t>first barrier</a:t>
            </a:r>
            <a:r>
              <a:rPr lang="en-US"/>
              <a:t>, making the condition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 &lt; thread_count </a:t>
            </a:r>
            <a:r>
              <a:rPr lang="en-US"/>
              <a:t>immediately false.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As a result, threads </a:t>
            </a:r>
            <a:r>
              <a:rPr b="1" lang="en-US"/>
              <a:t>bypass the second barrier</a:t>
            </a:r>
            <a:r>
              <a:rPr lang="en-US"/>
              <a:t>, leading to unsynchronized execution.</a:t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Resetting the counter after first barrier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After all threads exit the first barrier but before they reach the second barrier.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Increments to counter may be lost, making the second barrier condition unreachable 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 &lt; thread_count </a:t>
            </a:r>
            <a:r>
              <a:rPr b="1" lang="en-US"/>
              <a:t>fails to meet</a:t>
            </a:r>
            <a:r>
              <a:rPr lang="en-US"/>
              <a:t>).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This causes </a:t>
            </a:r>
            <a:r>
              <a:rPr b="1" lang="en-US"/>
              <a:t>deadlock</a:t>
            </a:r>
            <a:r>
              <a:rPr lang="en-US"/>
              <a:t> as threads </a:t>
            </a:r>
            <a:r>
              <a:rPr b="1" lang="en-US" u="sng"/>
              <a:t>hang in the busy-wait </a:t>
            </a:r>
            <a:r>
              <a:rPr lang="en-US"/>
              <a:t>loop of the second barrier.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Solution???</a:t>
            </a:r>
            <a:endParaRPr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To resolve this issues: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b="1" lang="en-US"/>
              <a:t>Use Separate Counters</a:t>
            </a:r>
            <a:r>
              <a:rPr lang="en-US"/>
              <a:t>:</a:t>
            </a:r>
            <a:br>
              <a:rPr lang="en-US"/>
            </a:br>
            <a:r>
              <a:rPr lang="en-US"/>
              <a:t>Allocate independent counters for each barrier instance to avoid conflicts.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b="1" lang="en-US"/>
              <a:t>Use Condition Variables(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n-US"/>
              <a:t>):</a:t>
            </a:r>
            <a:br>
              <a:rPr lang="en-US"/>
            </a:br>
            <a:r>
              <a:rPr lang="en-US"/>
              <a:t>Replace the busy-waiting loop with condition variables to manage thread synchronization efficiently and avoid race conditions </a:t>
            </a:r>
            <a:r>
              <a:rPr b="1" i="1" lang="en-US"/>
              <a:t>(</a:t>
            </a:r>
            <a:r>
              <a:rPr b="1" i="1" lang="en-US">
                <a:solidFill>
                  <a:srgbClr val="00B050"/>
                </a:solidFill>
              </a:rPr>
              <a:t>Threads block until signaled</a:t>
            </a:r>
            <a:r>
              <a:rPr b="1" i="1" lang="en-US"/>
              <a:t>, </a:t>
            </a:r>
            <a:r>
              <a:rPr b="1" i="1" lang="en-US">
                <a:solidFill>
                  <a:srgbClr val="FF0000"/>
                </a:solidFill>
              </a:rPr>
              <a:t>avoiding CPU waste</a:t>
            </a:r>
            <a:r>
              <a:rPr b="1" i="1" lang="en-US"/>
              <a:t>.)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Implementing a barrier with semaphores</a:t>
            </a:r>
            <a:endParaRPr/>
          </a:p>
        </p:txBody>
      </p:sp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3352" y="1052737"/>
            <a:ext cx="5805297" cy="56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35" name="Google Shape;235;p2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Char char="•"/>
            </a:pP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count_sem</a:t>
            </a:r>
            <a:r>
              <a:rPr lang="en-US"/>
              <a:t>: Protects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-US"/>
              <a:t> and ensures </a:t>
            </a:r>
            <a:r>
              <a:rPr b="1" lang="en-US"/>
              <a:t>mutual exclusion</a:t>
            </a:r>
            <a:r>
              <a:rPr lang="en-US"/>
              <a:t> during its modification.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Char char="•"/>
            </a:pP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barrier_sem</a:t>
            </a:r>
            <a:r>
              <a:rPr lang="en-US"/>
              <a:t>: Blocks threads at the </a:t>
            </a:r>
            <a:r>
              <a:rPr b="1" lang="en-US"/>
              <a:t>barrier</a:t>
            </a:r>
            <a:r>
              <a:rPr lang="en-US"/>
              <a:t> until all threads have arrived.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Threads increment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-US"/>
              <a:t> under protection by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count_sem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last thread resets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-US"/>
              <a:t> and releases all waiting threads by calling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sem_post(&amp;barrier_sem) </a:t>
            </a:r>
            <a:r>
              <a:rPr lang="en-US"/>
              <a:t>multiple times.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US"/>
              <a:t>Semaphores</a:t>
            </a:r>
            <a:r>
              <a:rPr lang="en-US"/>
              <a:t> prevent </a:t>
            </a:r>
            <a:r>
              <a:rPr lang="en-US">
                <a:solidFill>
                  <a:srgbClr val="FF0000"/>
                </a:solidFill>
              </a:rPr>
              <a:t>busy-waiting</a:t>
            </a:r>
            <a:r>
              <a:rPr lang="en-US"/>
              <a:t>, </a:t>
            </a:r>
            <a:r>
              <a:rPr b="1" lang="en-US">
                <a:solidFill>
                  <a:srgbClr val="00B050"/>
                </a:solidFill>
              </a:rPr>
              <a:t>conserving CPU resources.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41" name="Google Shape;241;p2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Char char="•"/>
            </a:pP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-US"/>
              <a:t> and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count_sem </a:t>
            </a:r>
            <a:r>
              <a:rPr lang="en-US"/>
              <a:t>can be reused since they are properly reset before threads </a:t>
            </a:r>
            <a:r>
              <a:rPr b="1" lang="en-US"/>
              <a:t>exit the barrier</a:t>
            </a:r>
            <a:r>
              <a:rPr lang="en-US"/>
              <a:t>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Reusing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barrier_sem </a:t>
            </a:r>
            <a:r>
              <a:rPr lang="en-US"/>
              <a:t>can lead to a </a:t>
            </a:r>
            <a:r>
              <a:rPr b="1" lang="en-US">
                <a:solidFill>
                  <a:srgbClr val="FF0000"/>
                </a:solidFill>
              </a:rPr>
              <a:t>race condition </a:t>
            </a:r>
            <a:r>
              <a:rPr lang="en-US"/>
              <a:t>if threads proceed to the </a:t>
            </a:r>
            <a:r>
              <a:rPr b="1" lang="en-US"/>
              <a:t>next barrier </a:t>
            </a:r>
            <a:r>
              <a:rPr lang="en-US"/>
              <a:t>before all threads have finished decrementing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barrier_sem </a:t>
            </a:r>
            <a:r>
              <a:rPr lang="en-US"/>
              <a:t>in the </a:t>
            </a:r>
            <a:r>
              <a:rPr b="1" lang="en-US"/>
              <a:t>first barrier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Solution???</a:t>
            </a:r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Separate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barrier_sem </a:t>
            </a:r>
            <a:r>
              <a:rPr lang="en-US"/>
              <a:t>for </a:t>
            </a:r>
            <a:r>
              <a:rPr b="1" lang="en-US"/>
              <a:t>Each Barrier</a:t>
            </a:r>
            <a:r>
              <a:rPr lang="en-US"/>
              <a:t>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Allocate a </a:t>
            </a:r>
            <a:r>
              <a:rPr b="1" lang="en-US"/>
              <a:t>unique </a:t>
            </a:r>
            <a:r>
              <a:rPr b="1" i="1" lang="en-US">
                <a:latin typeface="Consolas"/>
                <a:ea typeface="Consolas"/>
                <a:cs typeface="Consolas"/>
                <a:sym typeface="Consolas"/>
              </a:rPr>
              <a:t>barrier_sem </a:t>
            </a:r>
            <a:r>
              <a:rPr lang="en-US"/>
              <a:t>for each barrier to prevent interference between barriers.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Ensure threads only interact with the </a:t>
            </a:r>
            <a:r>
              <a:rPr i="1" lang="en-US">
                <a:latin typeface="Consolas"/>
                <a:ea typeface="Consolas"/>
                <a:cs typeface="Consolas"/>
                <a:sym typeface="Consolas"/>
              </a:rPr>
              <a:t>barrier_sem </a:t>
            </a:r>
            <a:r>
              <a:rPr lang="en-US"/>
              <a:t>specific to their current barrier.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US"/>
              <a:t>Synchronization Between Barriers</a:t>
            </a:r>
            <a:r>
              <a:rPr lang="en-US"/>
              <a:t>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Ensure threads </a:t>
            </a:r>
            <a:r>
              <a:rPr i="1" lang="en-US" u="sng"/>
              <a:t>cannot proceed to the next barrier</a:t>
            </a:r>
            <a:r>
              <a:rPr lang="en-US"/>
              <a:t> until all threads have exited the first barrier.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Use </a:t>
            </a:r>
            <a:r>
              <a:rPr i="1" lang="en-US" u="sng"/>
              <a:t>additional synchronization mechanisms </a:t>
            </a:r>
            <a:r>
              <a:rPr lang="en-US"/>
              <a:t>(e.g., </a:t>
            </a:r>
            <a:r>
              <a:rPr b="1" lang="en-US"/>
              <a:t>flags or condition variables</a:t>
            </a:r>
            <a:r>
              <a:rPr lang="en-US"/>
              <a:t>) to guarantee proper sequencing.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 Variables</a:t>
            </a:r>
            <a:endParaRPr/>
          </a:p>
        </p:txBody>
      </p:sp>
      <p:sp>
        <p:nvSpPr>
          <p:cNvPr id="253" name="Google Shape;253;p29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somewhat better approach to creating a barrier in Pthreads is provided by </a:t>
            </a:r>
            <a:r>
              <a:rPr i="1" lang="en-US"/>
              <a:t>condition variables</a:t>
            </a:r>
            <a:r>
              <a:rPr lang="en-US"/>
              <a:t>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b="1" lang="en-US"/>
              <a:t>condition variable </a:t>
            </a:r>
            <a:r>
              <a:rPr lang="en-US"/>
              <a:t>is a data object that allows a thread to suspend execution until a certain event or condition occurs.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When the event or </a:t>
            </a:r>
            <a:r>
              <a:rPr i="1" lang="en-US"/>
              <a:t>condition</a:t>
            </a:r>
            <a:r>
              <a:rPr lang="en-US"/>
              <a:t> occurs another thread can </a:t>
            </a:r>
            <a:r>
              <a:rPr i="1" lang="en-US"/>
              <a:t>signal</a:t>
            </a:r>
            <a:r>
              <a:rPr lang="en-US"/>
              <a:t> the thread to “wake up.”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condition variable is </a:t>
            </a:r>
            <a:r>
              <a:rPr b="1" lang="en-US"/>
              <a:t>always associated with a mutex</a:t>
            </a:r>
            <a:r>
              <a:rPr lang="en-US"/>
              <a:t>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 Variables</a:t>
            </a:r>
            <a:endParaRPr/>
          </a:p>
        </p:txBody>
      </p:sp>
      <p:pic>
        <p:nvPicPr>
          <p:cNvPr id="259" name="Google Shape;2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353" y="2131926"/>
            <a:ext cx="11713301" cy="374825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 txBox="1"/>
          <p:nvPr/>
        </p:nvSpPr>
        <p:spPr>
          <a:xfrm>
            <a:off x="407368" y="980728"/>
            <a:ext cx="1144927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Typically, condition variables are used in constructs similar to this pseudocode: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US"/>
              <a:t>Lock mutex </a:t>
            </a:r>
            <a:r>
              <a:rPr lang="en-US"/>
              <a:t>ensures exclusive access to shared resources.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US"/>
              <a:t>If the condition has occurred</a:t>
            </a:r>
            <a:r>
              <a:rPr lang="en-US"/>
              <a:t>, the thread notifies other threads that are waiting on this condition variable using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pthread_cond_signal </a:t>
            </a:r>
            <a:r>
              <a:rPr lang="en-US"/>
              <a:t>or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pthread_cond_broadcast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int pthread_cond_signal( pthread_cond_t∗ cond_var_p);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/>
              <a:t>will unblock one of the blocked threads, and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int pthread_cond_broadcast( pthread_cond_t∗ cond_var_p); </a:t>
            </a:r>
            <a:r>
              <a:rPr lang="en-US"/>
              <a:t>will unblock all of the blocked threads.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If not, the thread waits and releases the mutex, allowing other threads to update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n-US"/>
              <a:t>.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85" y="2564904"/>
            <a:ext cx="11071965" cy="281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Implementing a barrier with condition variables</a:t>
            </a:r>
            <a:endParaRPr/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579" y="1052737"/>
            <a:ext cx="7966842" cy="56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Int counter</a:t>
            </a:r>
            <a:r>
              <a:rPr lang="en-US" sz="2400"/>
              <a:t>: Tracks the number of threads that have reached the barrier.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pthread_mutex_t mutex</a:t>
            </a:r>
            <a:r>
              <a:rPr lang="en-US" sz="2400"/>
              <a:t>: Protects access to the shared counter to prevent race conditions.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pthread_cond_t cond_var</a:t>
            </a:r>
            <a:r>
              <a:rPr lang="en-US" sz="2400"/>
              <a:t>: Used for condition-based synchronization (to block and wake threads).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</a:pPr>
            <a:r>
              <a:rPr lang="en-US" sz="2400"/>
              <a:t>pthread_mutex_lock(&amp;mutex) locks the mutex to protect shared data.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</a:pPr>
            <a:r>
              <a:rPr lang="en-US" sz="2400"/>
              <a:t>The counter is incremented by the thread to indicate it has reached the barrier.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</a:pPr>
            <a:r>
              <a:rPr lang="en-US" sz="2400"/>
              <a:t>If the counter equals thread_count, it means all threads have reached the barrier. The thread resets the counter to 0.It then broadcasts a signal using pthread_cond_broadcast(&amp;cond_var) to wake all threads waiting at the barrier.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</a:pPr>
            <a:r>
              <a:rPr lang="en-US" sz="2400"/>
              <a:t>If the thread is not the last to reach the barrier, it waits on the condition variable with pthread_cond_wait(&amp;cond_var, &amp;mutex).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Pthreads Read-Write Locks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US"/>
              <a:t>Pthreads read-write locks</a:t>
            </a:r>
            <a:r>
              <a:rPr lang="en-US"/>
              <a:t>, a synchronization mechanism used to allow multiple threads to access a shared resource with different levels of concurrency.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Mutex vs. Read-Write Locks</a:t>
            </a:r>
            <a:r>
              <a:rPr lang="en-US"/>
              <a:t>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</a:t>
            </a:r>
            <a:r>
              <a:rPr b="1" lang="en-US"/>
              <a:t>mutex</a:t>
            </a:r>
            <a:r>
              <a:rPr lang="en-US"/>
              <a:t> allows </a:t>
            </a:r>
            <a:r>
              <a:rPr i="1" lang="en-US" u="sng"/>
              <a:t>only one thread </a:t>
            </a:r>
            <a:r>
              <a:rPr lang="en-US"/>
              <a:t>to access a resource at any given time.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Read-write locks</a:t>
            </a:r>
            <a:r>
              <a:rPr lang="en-US"/>
              <a:t> provide more flexibility by </a:t>
            </a:r>
            <a:r>
              <a:rPr i="1" lang="en-US" u="sng"/>
              <a:t>allowing multiple threads</a:t>
            </a:r>
            <a:r>
              <a:rPr lang="en-US"/>
              <a:t> to read the resource concurrently but ensuring </a:t>
            </a:r>
            <a:r>
              <a:rPr b="1" lang="en-US"/>
              <a:t>exclusive access</a:t>
            </a:r>
            <a:r>
              <a:rPr lang="en-US"/>
              <a:t> for one thread when writing.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Read-Write Locks Work?</a:t>
            </a:r>
            <a:endParaRPr/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Read Lock 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pthread_rwlock_rdlock</a:t>
            </a:r>
            <a:r>
              <a:rPr lang="en-US"/>
              <a:t>):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Allows multiple threads to simultaneously read the resource.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If any thread holds a read lock, </a:t>
            </a:r>
            <a:r>
              <a:rPr lang="en-US">
                <a:solidFill>
                  <a:srgbClr val="00B050"/>
                </a:solidFill>
              </a:rPr>
              <a:t>other threads can also acquire the read lock.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Write Lock 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pthread_rwlock_wrlock</a:t>
            </a:r>
            <a:r>
              <a:rPr lang="en-US"/>
              <a:t>):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Only one thread can hold a write lock at a time.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If a thread holds the write lock, </a:t>
            </a:r>
            <a:r>
              <a:rPr lang="en-US">
                <a:solidFill>
                  <a:srgbClr val="FF0000"/>
                </a:solidFill>
              </a:rPr>
              <a:t>no other threads can acquire either a read or a write lock</a:t>
            </a:r>
            <a:r>
              <a:rPr lang="en-US"/>
              <a:t>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Unlock 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pthread_rwlock_unlock</a:t>
            </a:r>
            <a:r>
              <a:rPr lang="en-US"/>
              <a:t>):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Used to </a:t>
            </a:r>
            <a:r>
              <a:rPr i="1" lang="en-US" u="sng"/>
              <a:t>release the read or write lock </a:t>
            </a:r>
            <a:r>
              <a:rPr lang="en-US"/>
              <a:t>after the thread finishes its operations on the shared resource.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Pthreads Read-Write Locks Functions</a:t>
            </a:r>
            <a:endParaRPr/>
          </a:p>
        </p:txBody>
      </p:sp>
      <p:sp>
        <p:nvSpPr>
          <p:cNvPr id="303" name="Google Shape;303;p3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pthread_rwlock_rdlock(pthread_rwlock_t *rwlock_p);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pthread_rwlock_tryrdlock(pthread_rwlock_t *rwlock_p);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pthread_rwlock_wrlock(pthread_rwlock_t *rwlock_p);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pthread_rwlock_trywrlock(pthread_rwlock_t *rwlock_p);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pthread_rwlock_unlock(pthread_rwlock_t *rwlock_p);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pthread_rwlock_init(pthread_rwlock_t *rwlock_p,</a:t>
            </a:r>
            <a:br>
              <a:rPr lang="en-US" sz="29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const pthread_rwlockattr_t *attr_p);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onsolas"/>
              <a:buChar char="•"/>
            </a:pPr>
            <a:r>
              <a:rPr lang="en-US" sz="2900">
                <a:latin typeface="Consolas"/>
                <a:ea typeface="Consolas"/>
                <a:cs typeface="Consolas"/>
                <a:sym typeface="Consolas"/>
              </a:rPr>
              <a:t>int pthread_rwlock_destroy(pthread_rwlock_t *rwlock_p);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Thread-Safety</a:t>
            </a:r>
            <a:endParaRPr/>
          </a:p>
        </p:txBody>
      </p:sp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In shared-memory programming, </a:t>
            </a:r>
            <a:r>
              <a:rPr b="1" lang="en-US"/>
              <a:t>thread safety</a:t>
            </a:r>
            <a:r>
              <a:rPr lang="en-US"/>
              <a:t> refers to the ability of a block of code to be executed by multiple threads simultaneously without causing issues, such as data corruption or incorrect results.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Example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Suppose we want to use multiple threads to “tokenize” a file that consists of ordinary English text. 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The tokens are just contiguous sequences of characters separated from the rest of the text by white-space — a space, a tab, or a newline.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 approach</a:t>
            </a:r>
            <a:endParaRPr/>
          </a:p>
        </p:txBody>
      </p:sp>
      <p:sp>
        <p:nvSpPr>
          <p:cNvPr id="315" name="Google Shape;315;p39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Divide the input file into lines of text and assign the lines to the threads in a round-robin fashion.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first line goes to thread 0, the second goes to thread 1,…, the nth goes to thread n, the n +1st goes to thread 0, etc.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We can serialize access to the lines of input using semaphores.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After a thread has read a single line of input, it can tokenize the line using the C standard library "strtok()" function.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strtok() function</a:t>
            </a:r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first time it’s called the string argument should be the text to be tokenized.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For subsequent calls, the first argument should be NULL.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idea is that in the first call, strtok caches a pointer to string, and for subsequent calls it returns successive tokens taken from the cached copy.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id="322" name="Google Shape;3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907" y="1268760"/>
            <a:ext cx="10016186" cy="163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521" y="18574"/>
            <a:ext cx="7220958" cy="6820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Running with one thread</a:t>
            </a:r>
            <a:endParaRPr/>
          </a:p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Char char="•"/>
            </a:pPr>
            <a:r>
              <a:rPr lang="en-US" sz="4000"/>
              <a:t>It correctly tokenizes the input stream.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–"/>
            </a:pPr>
            <a:r>
              <a:rPr lang="en-US" sz="3600"/>
              <a:t>Pease porridge hot.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–"/>
            </a:pPr>
            <a:r>
              <a:rPr lang="en-US" sz="3600"/>
              <a:t>Pease porridge cold.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–"/>
            </a:pPr>
            <a:r>
              <a:rPr lang="en-US" sz="3600"/>
              <a:t>Pease porridge in the pot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Char char="–"/>
            </a:pPr>
            <a:r>
              <a:rPr lang="en-US" sz="3600"/>
              <a:t>Nine days old.</a:t>
            </a:r>
            <a:endParaRPr/>
          </a:p>
          <a:p>
            <a:pPr indent="-88882" lvl="0" marL="342884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Running with two threads</a:t>
            </a:r>
            <a:endParaRPr/>
          </a:p>
        </p:txBody>
      </p:sp>
      <p:pic>
        <p:nvPicPr>
          <p:cNvPr descr="Text, table&#10;&#10;Description automatically generated" id="339" name="Google Shape;33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48" y="1052737"/>
            <a:ext cx="6934104" cy="56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/>
          <p:nvPr/>
        </p:nvSpPr>
        <p:spPr>
          <a:xfrm>
            <a:off x="2711624" y="4869160"/>
            <a:ext cx="4176464" cy="432048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happened?</a:t>
            </a:r>
            <a:endParaRPr/>
          </a:p>
        </p:txBody>
      </p:sp>
      <p:sp>
        <p:nvSpPr>
          <p:cNvPr id="346" name="Google Shape;346;p4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strtok() caches the input line by declaring a variable to have </a:t>
            </a:r>
            <a:r>
              <a:rPr b="1" lang="en-US"/>
              <a:t>static storage class</a:t>
            </a:r>
            <a:r>
              <a:rPr lang="en-US"/>
              <a:t>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This causes the value stored in this variable to persist from one call to the next.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Unfortunately for us, this cached string is a global.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Thus, thread 0’s call to strtok() with the third line of the input has apparently overwritten the contents of thread 1’s call with the second line.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So the strtok() function is not thread-safe.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If multiple threads call it simultaneously, the output may not be correct.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Other unsafe C library functions</a:t>
            </a:r>
            <a:endParaRPr/>
          </a:p>
        </p:txBody>
      </p:sp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It’s not uncommon for C library functions to not be thread-safe.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random number generator random in stdlib.h.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time conversion function localtime in time.h.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Solution??</a:t>
            </a:r>
            <a:endParaRPr/>
          </a:p>
        </p:txBody>
      </p:sp>
      <p:sp>
        <p:nvSpPr>
          <p:cNvPr id="358" name="Google Shape;358;p4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To resolve this issue, use a </a:t>
            </a:r>
            <a:r>
              <a:rPr b="1" lang="en-US"/>
              <a:t>thread-safe version of strtok</a:t>
            </a:r>
            <a:r>
              <a:rPr lang="en-US"/>
              <a:t>, such as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strtok_r </a:t>
            </a:r>
            <a:r>
              <a:rPr lang="en-US"/>
              <a:t>(reentrant strtok), which allows each thread to maintain its own internal state during tokenization.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Each thread would pass its own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saveptr</a:t>
            </a:r>
            <a:r>
              <a:rPr lang="en-US"/>
              <a:t> to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strtok_r</a:t>
            </a:r>
            <a:r>
              <a:rPr lang="en-US"/>
              <a:t>, allowing them to tokenize independently without affecting each other.</a:t>
            </a:r>
            <a:endParaRPr/>
          </a:p>
        </p:txBody>
      </p:sp>
      <p:pic>
        <p:nvPicPr>
          <p:cNvPr id="359" name="Google Shape;35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360" y="2636912"/>
            <a:ext cx="10355243" cy="1994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65" name="Google Shape;365;p4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A thread in shared-memory programming is analogous to a process in distributed memory programming.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However, a thread is often lighter-weight than a full-fledged process.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In Pthreads programs, all the threads have access to global variables, while local variables usually are private to the thread running the function.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•"/>
            </a:pPr>
            <a:r>
              <a:rPr lang="en-US"/>
              <a:t>When indeterminate results arise from multiple threads attempting to access a shared resource such as a shared variable or a shared file, at least one of the accesses is an update, and the accesses can result in an error, we have a </a:t>
            </a:r>
            <a:r>
              <a:rPr lang="en-US">
                <a:solidFill>
                  <a:srgbClr val="FF0000"/>
                </a:solidFill>
              </a:rPr>
              <a:t>race condition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71" name="Google Shape;371;p48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critical section </a:t>
            </a:r>
            <a:r>
              <a:rPr lang="en-US"/>
              <a:t>is a block of code that updates a shared resource that can only be updated by one thread at a time.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So the execution of code in a critical section should, effectively, be executed as serial code.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Busy-waiting can be used to avoid conflicting access to critical sections with a flag variable and a while-loop with an empty body.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can be very wasteful of CPU cycles.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can also be unreliable if compiler optimization is turned 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77" name="Google Shape;377;p49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mutex</a:t>
            </a:r>
            <a:r>
              <a:rPr lang="en-US"/>
              <a:t> can be used to avoid conflicting access to critical sections as well.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Think of it as a lock on a critical section, since mutexes arrange for mutually exclusive access to a critical section.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semaphore</a:t>
            </a:r>
            <a:r>
              <a:rPr lang="en-US"/>
              <a:t> is the third way to avoid conflicting access to critical sections.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It is an unsigned int together with two operations: sem_wait and sem_post. 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Semaphores are more powerful than mutexes since they can be initialized to any nonnegative value.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83" name="Google Shape;383;p50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barrier</a:t>
            </a:r>
            <a:r>
              <a:rPr lang="en-US"/>
              <a:t> is a point in a program at which the threads block until all of the threads have reached it.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read-write lock </a:t>
            </a:r>
            <a:r>
              <a:rPr lang="en-US"/>
              <a:t>is used when it’s safe for multiple threads to simultaneously read a data structure, but if a thread needs to modify or write to the data structure, then only that thread can access the data structure during the modification.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Some C functions cache data between calls by declaring variables to be static, causing errors when multiple threads call the function.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This type of function is not </a:t>
            </a:r>
            <a:r>
              <a:rPr lang="en-US">
                <a:solidFill>
                  <a:srgbClr val="FF0000"/>
                </a:solidFill>
              </a:rPr>
              <a:t>thread-safe</a:t>
            </a:r>
            <a:r>
              <a:rPr lang="en-US"/>
              <a:t>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 of Lecture 5</a:t>
            </a:r>
            <a:endParaRPr/>
          </a:p>
        </p:txBody>
      </p:sp>
      <p:sp>
        <p:nvSpPr>
          <p:cNvPr id="389" name="Google Shape;389;p51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2020-11-12T17:22:46Z</dcterms:created>
</cp:coreProperties>
</file>