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797675" cy="9926625"/>
  <p:embeddedFontLst>
    <p:embeddedFont>
      <p:font typeface="Helvetica Neue"/>
      <p:regular r:id="rId22"/>
      <p:bold r:id="rId23"/>
      <p:italic r:id="rId24"/>
      <p:boldItalic r:id="rId25"/>
    </p:embeddedFon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  <p:ext uri="GoogleSlidesCustomDataVersion2">
      <go:slidesCustomData xmlns:go="http://customooxmlschemas.google.com/" r:id="rId27" roundtripDataSignature="AMtx7mg5VloH1+yiFqnuMPPW+rTB/0KV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14FB2A-6081-4942-9670-21B19630828C}">
  <a:tblStyle styleId="{CC14FB2A-6081-4942-9670-21B1963082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098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5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alBlack-regular.fntdata"/><Relationship Id="rId25" Type="http://schemas.openxmlformats.org/officeDocument/2006/relationships/font" Target="fonts/HelveticaNeue-bold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13251cee9_11_0:notes"/>
          <p:cNvSpPr/>
          <p:nvPr>
            <p:ph idx="2" type="sldImg"/>
          </p:nvPr>
        </p:nvSpPr>
        <p:spPr>
          <a:xfrm>
            <a:off x="90488" y="744538"/>
            <a:ext cx="66168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13251cee9_11_0:notes"/>
          <p:cNvSpPr txBox="1"/>
          <p:nvPr>
            <p:ph idx="1" type="body"/>
          </p:nvPr>
        </p:nvSpPr>
        <p:spPr>
          <a:xfrm>
            <a:off x="680254" y="4714876"/>
            <a:ext cx="5437200" cy="446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913251cee9_11_0:notes"/>
          <p:cNvSpPr txBox="1"/>
          <p:nvPr>
            <p:ph idx="12" type="sldNum"/>
          </p:nvPr>
        </p:nvSpPr>
        <p:spPr>
          <a:xfrm>
            <a:off x="3849911" y="9428164"/>
            <a:ext cx="2946000" cy="49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  <a:defRPr>
                <a:solidFill>
                  <a:srgbClr val="FFC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31817" y="1940981"/>
            <a:ext cx="11233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31800" y="2852248"/>
            <a:ext cx="5513917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24" name="Google Shape;24;p19"/>
          <p:cNvSpPr txBox="1"/>
          <p:nvPr>
            <p:ph idx="2" type="body"/>
          </p:nvPr>
        </p:nvSpPr>
        <p:spPr>
          <a:xfrm>
            <a:off x="6148934" y="2852248"/>
            <a:ext cx="5516033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609600" y="151391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609600" y="2774390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28" name="Google Shape;28;p20"/>
          <p:cNvSpPr txBox="1"/>
          <p:nvPr>
            <p:ph idx="2" type="body"/>
          </p:nvPr>
        </p:nvSpPr>
        <p:spPr>
          <a:xfrm>
            <a:off x="609600" y="3414149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29" name="Google Shape;29;p20"/>
          <p:cNvSpPr txBox="1"/>
          <p:nvPr>
            <p:ph idx="3" type="body"/>
          </p:nvPr>
        </p:nvSpPr>
        <p:spPr>
          <a:xfrm>
            <a:off x="6193378" y="2774390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30" name="Google Shape;30;p20"/>
          <p:cNvSpPr txBox="1"/>
          <p:nvPr>
            <p:ph idx="4" type="body"/>
          </p:nvPr>
        </p:nvSpPr>
        <p:spPr>
          <a:xfrm>
            <a:off x="6193378" y="3414149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09617" y="1594874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4766733" y="159488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37" name="Google Shape;37;p23"/>
          <p:cNvSpPr txBox="1"/>
          <p:nvPr>
            <p:ph idx="2" type="body"/>
          </p:nvPr>
        </p:nvSpPr>
        <p:spPr>
          <a:xfrm>
            <a:off x="609617" y="275693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2389717" y="480060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/>
          <p:nvPr>
            <p:ph idx="2" type="pic"/>
          </p:nvPr>
        </p:nvSpPr>
        <p:spPr>
          <a:xfrm>
            <a:off x="2389717" y="1604803"/>
            <a:ext cx="7315200" cy="3122777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4"/>
          <p:cNvSpPr txBox="1"/>
          <p:nvPr>
            <p:ph idx="1" type="body"/>
          </p:nvPr>
        </p:nvSpPr>
        <p:spPr>
          <a:xfrm>
            <a:off x="2389717" y="5367346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" type="body"/>
          </p:nvPr>
        </p:nvSpPr>
        <p:spPr>
          <a:xfrm rot="5400000">
            <a:off x="3528113" y="-1467494"/>
            <a:ext cx="5040560" cy="11233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 rot="5400000">
            <a:off x="7530323" y="2318547"/>
            <a:ext cx="5462588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 rot="5400000">
            <a:off x="1812131" y="-389728"/>
            <a:ext cx="5462588" cy="822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838200" y="460126"/>
            <a:ext cx="10515600" cy="6371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7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838200" y="1644163"/>
            <a:ext cx="10515600" cy="453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3200"/>
              <a:buFont typeface="Arial"/>
              <a:buChar char="•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800"/>
              <a:buFont typeface="Arial"/>
              <a:buChar char="–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400"/>
              <a:buFont typeface="Arial"/>
              <a:buChar char="•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000"/>
              <a:buFont typeface="Arial"/>
              <a:buChar char="–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000"/>
              <a:buFont typeface="Arial"/>
              <a:buChar char="»"/>
              <a:defRPr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742594" y="6356351"/>
            <a:ext cx="47068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" name="Google Shape;53;p27"/>
          <p:cNvSpPr txBox="1"/>
          <p:nvPr>
            <p:ph idx="2" type="subTitle"/>
          </p:nvPr>
        </p:nvSpPr>
        <p:spPr>
          <a:xfrm>
            <a:off x="838200" y="1107373"/>
            <a:ext cx="10515600" cy="369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Helvetica Neue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9pPr>
          </a:lstStyle>
          <a:p/>
        </p:txBody>
      </p:sp>
      <p:pic>
        <p:nvPicPr>
          <p:cNvPr descr="Level Access Logo" id="54" name="Google Shape;5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05537" y="6302169"/>
            <a:ext cx="1048265" cy="41930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7"/>
          <p:cNvSpPr/>
          <p:nvPr/>
        </p:nvSpPr>
        <p:spPr>
          <a:xfrm>
            <a:off x="718038" y="1474177"/>
            <a:ext cx="10755927" cy="45719"/>
          </a:xfrm>
          <a:prstGeom prst="rect">
            <a:avLst/>
          </a:prstGeom>
          <a:solidFill>
            <a:srgbClr val="5DD3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4400"/>
              <a:t>6CS005 High Performance Computing</a:t>
            </a:r>
            <a:endParaRPr sz="4400"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</a:pPr>
            <a:r>
              <a:rPr lang="en-GB"/>
              <a:t>Tutorial 7 More OpenMP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Averaging Program</a:t>
            </a:r>
            <a:endParaRPr/>
          </a:p>
        </p:txBody>
      </p:sp>
      <p:pic>
        <p:nvPicPr>
          <p:cNvPr id="71" name="Google Shape;7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424" y="1052737"/>
            <a:ext cx="7279916" cy="56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152" y="3933056"/>
            <a:ext cx="4577934" cy="93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Averaging Program</a:t>
            </a:r>
            <a:endParaRPr/>
          </a:p>
        </p:txBody>
      </p:sp>
      <p:pic>
        <p:nvPicPr>
          <p:cNvPr id="78" name="Google Shape;7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32" y="1052737"/>
            <a:ext cx="6939502" cy="56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040" y="3217168"/>
            <a:ext cx="5392575" cy="825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What happen?</a:t>
            </a:r>
            <a:endParaRPr/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Each thread tries to update the </a:t>
            </a:r>
            <a:r>
              <a:rPr b="1" lang="en-GB"/>
              <a:t>shared variable </a:t>
            </a:r>
            <a:r>
              <a:rPr b="1" i="1" lang="en-GB"/>
              <a:t>average</a:t>
            </a:r>
            <a:r>
              <a:rPr b="1" lang="en-GB"/>
              <a:t> </a:t>
            </a:r>
            <a:r>
              <a:rPr lang="en-GB"/>
              <a:t>at the same time creating a race condition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Can be solved with a critical section but this </a:t>
            </a:r>
            <a:r>
              <a:rPr b="1" lang="en-GB"/>
              <a:t>slows down </a:t>
            </a:r>
            <a:r>
              <a:rPr lang="en-GB"/>
              <a:t>the execution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1" lang="en-GB"/>
              <a:t>Faster solution </a:t>
            </a:r>
            <a:r>
              <a:rPr lang="en-GB"/>
              <a:t>is for each thread to create it's own copy of the variable </a:t>
            </a:r>
            <a:r>
              <a:rPr i="1" lang="en-GB"/>
              <a:t>average</a:t>
            </a:r>
            <a:r>
              <a:rPr lang="en-GB"/>
              <a:t> and then combine them all at the end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This is called </a:t>
            </a:r>
            <a:r>
              <a:rPr b="1" lang="en-GB"/>
              <a:t>reduction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Reduction</a:t>
            </a:r>
            <a:endParaRPr/>
          </a:p>
        </p:txBody>
      </p:sp>
      <p:pic>
        <p:nvPicPr>
          <p:cNvPr id="91" name="Google Shape;9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098" y="1052737"/>
            <a:ext cx="8290222" cy="56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4" y="3068960"/>
            <a:ext cx="5846357" cy="9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Reduction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247987" y="1061374"/>
            <a:ext cx="11713200" cy="5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OpenMP reduction clause:  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GB"/>
              <a:t>reduction (op : list)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Inside a parallel or a work-sharing construct: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A local copy of each list variable is made and initialized  depending on the “op” (e.g. 0 for “+”).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Updates occur on the local copy.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Local copies are reduced into a single value and  combined with the original global value.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5"/>
              <a:buNone/>
            </a:pPr>
            <a:r>
              <a:rPr lang="en-GB"/>
              <a:t>OpenMP: Reduction operands/initial-values</a:t>
            </a:r>
            <a:endParaRPr/>
          </a:p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Many different associative operands can be used with reduction - Initial values are the ones that make sense mathematically.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7"/>
          <p:cNvGraphicFramePr/>
          <p:nvPr/>
        </p:nvGraphicFramePr>
        <p:xfrm>
          <a:off x="4399756" y="242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{CC14FB2A-6081-4942-9670-21B19630828C}</a:tableStyleId>
              </a:tblPr>
              <a:tblGrid>
                <a:gridCol w="1727200"/>
                <a:gridCol w="2273300"/>
              </a:tblGrid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Initial 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 pos. 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neg. 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&amp;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|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^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&amp;&amp;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||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9525" marL="95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Matrix Multiplication</a:t>
            </a:r>
            <a:endParaRPr/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079" y="1076352"/>
            <a:ext cx="7063768" cy="5526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Parallel For</a:t>
            </a:r>
            <a:endParaRPr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504" y="1082447"/>
            <a:ext cx="6749973" cy="5626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 txBox="1"/>
          <p:nvPr/>
        </p:nvSpPr>
        <p:spPr>
          <a:xfrm>
            <a:off x="6600056" y="3625860"/>
            <a:ext cx="3743332" cy="52322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by size of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Collapsing loops in OpenMP</a:t>
            </a:r>
            <a:endParaRPr/>
          </a:p>
        </p:txBody>
      </p:sp>
      <p:pic>
        <p:nvPicPr>
          <p:cNvPr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400" y="1052737"/>
            <a:ext cx="6642637" cy="56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 txBox="1"/>
          <p:nvPr/>
        </p:nvSpPr>
        <p:spPr>
          <a:xfrm>
            <a:off x="7375976" y="3284984"/>
            <a:ext cx="3544560" cy="954107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Collapse the 3 loops </a:t>
            </a:r>
            <a:b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one internally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4151784" y="3861049"/>
            <a:ext cx="377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Simple Locks</a:t>
            </a:r>
            <a:endParaRPr/>
          </a:p>
        </p:txBody>
      </p:sp>
      <p:sp>
        <p:nvSpPr>
          <p:cNvPr id="132" name="Google Shape;132;p11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GB"/>
              <a:t>Directly comparable to pthread mutexes: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omp_lock_t represents a simple lock type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omp_init_lock() initializes a simple lock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omp_set_lock() waits until a simple lock is available and then sets it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omp_unset_lock() unsets a simple lock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omp_destroy_lock() </a:t>
            </a:r>
            <a:r>
              <a:rPr lang="en-GB"/>
              <a:t>uninitialized</a:t>
            </a:r>
            <a:r>
              <a:rPr lang="en-GB"/>
              <a:t> a simple lock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GB"/>
              <a:t>omp_test_lock() tests a simple lock and sets it if it is available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Pthread Mutex</a:t>
            </a:r>
            <a:endParaRPr/>
          </a:p>
        </p:txBody>
      </p:sp>
      <p:pic>
        <p:nvPicPr>
          <p:cNvPr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" y="1359550"/>
            <a:ext cx="5730087" cy="422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4871" y="1375520"/>
            <a:ext cx="5215665" cy="442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Equivalent</a:t>
            </a:r>
            <a:endParaRPr/>
          </a:p>
        </p:txBody>
      </p:sp>
      <p:pic>
        <p:nvPicPr>
          <p:cNvPr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44" y="1052736"/>
            <a:ext cx="8173591" cy="55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8048" y="3501008"/>
            <a:ext cx="6130472" cy="198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End of week 7 Tutorial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3251cee9_11_0"/>
          <p:cNvSpPr txBox="1"/>
          <p:nvPr>
            <p:ph type="ctrTitle"/>
          </p:nvPr>
        </p:nvSpPr>
        <p:spPr>
          <a:xfrm>
            <a:off x="527381" y="2512922"/>
            <a:ext cx="103632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13251cee9_11_0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2020-10-20T01:36:00Z</dcterms:created>
</cp:coreProperties>
</file>